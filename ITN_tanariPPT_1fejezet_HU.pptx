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4"/>
    <p:sldMasterId id="2147483945" r:id="rId5"/>
  </p:sldMasterIdLst>
  <p:notesMasterIdLst>
    <p:notesMasterId r:id="rId63"/>
  </p:notesMasterIdLst>
  <p:handoutMasterIdLst>
    <p:handoutMasterId r:id="rId64"/>
  </p:handoutMasterIdLst>
  <p:sldIdLst>
    <p:sldId id="795" r:id="rId6"/>
    <p:sldId id="500" r:id="rId7"/>
    <p:sldId id="786" r:id="rId8"/>
    <p:sldId id="541" r:id="rId9"/>
    <p:sldId id="791" r:id="rId10"/>
    <p:sldId id="736" r:id="rId11"/>
    <p:sldId id="737" r:id="rId12"/>
    <p:sldId id="738" r:id="rId13"/>
    <p:sldId id="798" r:id="rId14"/>
    <p:sldId id="740" r:id="rId15"/>
    <p:sldId id="780" r:id="rId16"/>
    <p:sldId id="781" r:id="rId17"/>
    <p:sldId id="792" r:id="rId18"/>
    <p:sldId id="716" r:id="rId19"/>
    <p:sldId id="749" r:id="rId20"/>
    <p:sldId id="750" r:id="rId21"/>
    <p:sldId id="751" r:id="rId22"/>
    <p:sldId id="782" r:id="rId23"/>
    <p:sldId id="752" r:id="rId24"/>
    <p:sldId id="753" r:id="rId25"/>
    <p:sldId id="754" r:id="rId26"/>
    <p:sldId id="755" r:id="rId27"/>
    <p:sldId id="719" r:id="rId28"/>
    <p:sldId id="756" r:id="rId29"/>
    <p:sldId id="799" r:id="rId30"/>
    <p:sldId id="760" r:id="rId31"/>
    <p:sldId id="761" r:id="rId32"/>
    <p:sldId id="796" r:id="rId33"/>
    <p:sldId id="793" r:id="rId34"/>
    <p:sldId id="742" r:id="rId35"/>
    <p:sldId id="743" r:id="rId36"/>
    <p:sldId id="800" r:id="rId37"/>
    <p:sldId id="744" r:id="rId38"/>
    <p:sldId id="745" r:id="rId39"/>
    <p:sldId id="777" r:id="rId40"/>
    <p:sldId id="746" r:id="rId41"/>
    <p:sldId id="747" r:id="rId42"/>
    <p:sldId id="748" r:id="rId43"/>
    <p:sldId id="797" r:id="rId44"/>
    <p:sldId id="794" r:id="rId45"/>
    <p:sldId id="762" r:id="rId46"/>
    <p:sldId id="763" r:id="rId47"/>
    <p:sldId id="764" r:id="rId48"/>
    <p:sldId id="765" r:id="rId49"/>
    <p:sldId id="766" r:id="rId50"/>
    <p:sldId id="767" r:id="rId51"/>
    <p:sldId id="783" r:id="rId52"/>
    <p:sldId id="784" r:id="rId53"/>
    <p:sldId id="785" r:id="rId54"/>
    <p:sldId id="723" r:id="rId55"/>
    <p:sldId id="769" r:id="rId56"/>
    <p:sldId id="770" r:id="rId57"/>
    <p:sldId id="771" r:id="rId58"/>
    <p:sldId id="775" r:id="rId59"/>
    <p:sldId id="787" r:id="rId60"/>
    <p:sldId id="788" r:id="rId61"/>
    <p:sldId id="681" r:id="rId62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2" clrIdx="0"/>
  <p:cmAuthor id="1" name="Rodrigo Floriano" initials="RF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A2AE7-5E07-3809-B651-F46E8894CEAB}" v="2" dt="2021-02-04T08:52:46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142" autoAdjust="0"/>
  </p:normalViewPr>
  <p:slideViewPr>
    <p:cSldViewPr snapToGrid="0">
      <p:cViewPr varScale="1">
        <p:scale>
          <a:sx n="71" d="100"/>
          <a:sy n="71" d="100"/>
        </p:scale>
        <p:origin x="2136" y="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2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20.xml"/><Relationship Id="rId18" Type="http://schemas.openxmlformats.org/officeDocument/2006/relationships/slide" Target="slides/slide26.xml"/><Relationship Id="rId26" Type="http://schemas.openxmlformats.org/officeDocument/2006/relationships/slide" Target="slides/slide37.xml"/><Relationship Id="rId39" Type="http://schemas.openxmlformats.org/officeDocument/2006/relationships/slide" Target="slides/slide52.xml"/><Relationship Id="rId21" Type="http://schemas.openxmlformats.org/officeDocument/2006/relationships/slide" Target="slides/slide31.xml"/><Relationship Id="rId34" Type="http://schemas.openxmlformats.org/officeDocument/2006/relationships/slide" Target="slides/slide47.xml"/><Relationship Id="rId42" Type="http://schemas.openxmlformats.org/officeDocument/2006/relationships/slide" Target="slides/slide55.xml"/><Relationship Id="rId7" Type="http://schemas.openxmlformats.org/officeDocument/2006/relationships/slide" Target="slides/slide14.xml"/><Relationship Id="rId2" Type="http://schemas.openxmlformats.org/officeDocument/2006/relationships/slide" Target="slides/slide7.xml"/><Relationship Id="rId16" Type="http://schemas.openxmlformats.org/officeDocument/2006/relationships/slide" Target="slides/slide23.xml"/><Relationship Id="rId20" Type="http://schemas.openxmlformats.org/officeDocument/2006/relationships/slide" Target="slides/slide30.xml"/><Relationship Id="rId29" Type="http://schemas.openxmlformats.org/officeDocument/2006/relationships/slide" Target="slides/slide42.xml"/><Relationship Id="rId41" Type="http://schemas.openxmlformats.org/officeDocument/2006/relationships/slide" Target="slides/slide54.xml"/><Relationship Id="rId1" Type="http://schemas.openxmlformats.org/officeDocument/2006/relationships/slide" Target="slides/slide6.xml"/><Relationship Id="rId6" Type="http://schemas.openxmlformats.org/officeDocument/2006/relationships/slide" Target="slides/slide12.xml"/><Relationship Id="rId11" Type="http://schemas.openxmlformats.org/officeDocument/2006/relationships/slide" Target="slides/slide18.xml"/><Relationship Id="rId24" Type="http://schemas.openxmlformats.org/officeDocument/2006/relationships/slide" Target="slides/slide35.xml"/><Relationship Id="rId32" Type="http://schemas.openxmlformats.org/officeDocument/2006/relationships/slide" Target="slides/slide45.xml"/><Relationship Id="rId37" Type="http://schemas.openxmlformats.org/officeDocument/2006/relationships/slide" Target="slides/slide50.xml"/><Relationship Id="rId40" Type="http://schemas.openxmlformats.org/officeDocument/2006/relationships/slide" Target="slides/slide53.xml"/><Relationship Id="rId5" Type="http://schemas.openxmlformats.org/officeDocument/2006/relationships/slide" Target="slides/slide11.xml"/><Relationship Id="rId15" Type="http://schemas.openxmlformats.org/officeDocument/2006/relationships/slide" Target="slides/slide22.xml"/><Relationship Id="rId23" Type="http://schemas.openxmlformats.org/officeDocument/2006/relationships/slide" Target="slides/slide34.xml"/><Relationship Id="rId28" Type="http://schemas.openxmlformats.org/officeDocument/2006/relationships/slide" Target="slides/slide41.xml"/><Relationship Id="rId36" Type="http://schemas.openxmlformats.org/officeDocument/2006/relationships/slide" Target="slides/slide49.xml"/><Relationship Id="rId10" Type="http://schemas.openxmlformats.org/officeDocument/2006/relationships/slide" Target="slides/slide17.xml"/><Relationship Id="rId19" Type="http://schemas.openxmlformats.org/officeDocument/2006/relationships/slide" Target="slides/slide27.xml"/><Relationship Id="rId31" Type="http://schemas.openxmlformats.org/officeDocument/2006/relationships/slide" Target="slides/slide44.xml"/><Relationship Id="rId4" Type="http://schemas.openxmlformats.org/officeDocument/2006/relationships/slide" Target="slides/slide10.xml"/><Relationship Id="rId9" Type="http://schemas.openxmlformats.org/officeDocument/2006/relationships/slide" Target="slides/slide16.xml"/><Relationship Id="rId14" Type="http://schemas.openxmlformats.org/officeDocument/2006/relationships/slide" Target="slides/slide21.xml"/><Relationship Id="rId22" Type="http://schemas.openxmlformats.org/officeDocument/2006/relationships/slide" Target="slides/slide33.xml"/><Relationship Id="rId27" Type="http://schemas.openxmlformats.org/officeDocument/2006/relationships/slide" Target="slides/slide38.xml"/><Relationship Id="rId30" Type="http://schemas.openxmlformats.org/officeDocument/2006/relationships/slide" Target="slides/slide43.xml"/><Relationship Id="rId35" Type="http://schemas.openxmlformats.org/officeDocument/2006/relationships/slide" Target="slides/slide48.xml"/><Relationship Id="rId43" Type="http://schemas.openxmlformats.org/officeDocument/2006/relationships/slide" Target="slides/slide56.xml"/><Relationship Id="rId8" Type="http://schemas.openxmlformats.org/officeDocument/2006/relationships/slide" Target="slides/slide15.xml"/><Relationship Id="rId3" Type="http://schemas.openxmlformats.org/officeDocument/2006/relationships/slide" Target="slides/slide8.xml"/><Relationship Id="rId12" Type="http://schemas.openxmlformats.org/officeDocument/2006/relationships/slide" Target="slides/slide19.xml"/><Relationship Id="rId17" Type="http://schemas.openxmlformats.org/officeDocument/2006/relationships/slide" Target="slides/slide24.xml"/><Relationship Id="rId25" Type="http://schemas.openxmlformats.org/officeDocument/2006/relationships/slide" Target="slides/slide36.xml"/><Relationship Id="rId33" Type="http://schemas.openxmlformats.org/officeDocument/2006/relationships/slide" Target="slides/slide46.xml"/><Relationship Id="rId38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zabó Attila" userId="S::szabo.attila@boronkay.hu::6a709d5c-62a7-4df6-8c89-124b62bde186" providerId="AD" clId="Web-{CABA2AE7-5E07-3809-B651-F46E8894CEAB}"/>
    <pc:docChg chg="modSld">
      <pc:chgData name="Szabó Attila" userId="S::szabo.attila@boronkay.hu::6a709d5c-62a7-4df6-8c89-124b62bde186" providerId="AD" clId="Web-{CABA2AE7-5E07-3809-B651-F46E8894CEAB}" dt="2021-02-04T08:52:46.134" v="1" actId="1076"/>
      <pc:docMkLst>
        <pc:docMk/>
      </pc:docMkLst>
      <pc:sldChg chg="modSp">
        <pc:chgData name="Szabó Attila" userId="S::szabo.attila@boronkay.hu::6a709d5c-62a7-4df6-8c89-124b62bde186" providerId="AD" clId="Web-{CABA2AE7-5E07-3809-B651-F46E8894CEAB}" dt="2021-02-04T08:52:46.134" v="1" actId="1076"/>
        <pc:sldMkLst>
          <pc:docMk/>
          <pc:sldMk cId="0" sldId="736"/>
        </pc:sldMkLst>
        <pc:picChg chg="mod">
          <ac:chgData name="Szabó Attila" userId="S::szabo.attila@boronkay.hu::6a709d5c-62a7-4df6-8c89-124b62bde186" providerId="AD" clId="Web-{CABA2AE7-5E07-3809-B651-F46E8894CEAB}" dt="2021-02-04T08:52:46.134" v="1" actId="1076"/>
          <ac:picMkLst>
            <pc:docMk/>
            <pc:sldMk cId="0" sldId="736"/>
            <ac:picMk id="5" creationId="{00000000-0000-0000-0000-000000000000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3-10-02T14:46:06.556" idx="9">
    <p:pos x="648" y="-406"/>
    <p:text>this image did not come from this page.  but honestly, you could probably keep it as is.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512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</a:pPr>
            <a:fld id="{22244E67-557B-7741-B9F5-F61AA18495DF}" type="slidenum">
              <a:rPr lang="en-US" sz="800"/>
              <a:pPr algn="r" defTabSz="903288">
                <a:lnSpc>
                  <a:spcPct val="100000"/>
                </a:lnSpc>
              </a:p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181015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</a:pPr>
            <a:r>
              <a:rPr lang="en-US" sz="800"/>
              <a:t>Presentation_ID.scr</a:t>
            </a:r>
          </a:p>
        </p:txBody>
      </p:sp>
      <p:sp>
        <p:nvSpPr>
          <p:cNvPr id="6148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 smtClean="0">
                <a:cs typeface="+mn-cs"/>
              </a:defRPr>
            </a:lvl1pPr>
          </a:lstStyle>
          <a:p>
            <a:pPr>
              <a:defRPr/>
            </a:pPr>
            <a:fld id="{F4CE0E46-7F05-B940-8356-5580BE265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150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2646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D9030C1-C977-B14B-8EB7-BA2B30FCDB63}" type="slidenum">
              <a:rPr lang="en-US" sz="800"/>
              <a:pPr/>
              <a:t>2</a:t>
            </a:fld>
            <a:endParaRPr lang="en-US" sz="80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</a:t>
            </a:r>
            <a:r>
              <a:rPr lang="en-US" b="0" dirty="0" err="1"/>
              <a:t>Hálózati</a:t>
            </a:r>
            <a:r>
              <a:rPr lang="en-US" b="0" dirty="0"/>
              <a:t> </a:t>
            </a:r>
            <a:r>
              <a:rPr lang="en-US" b="0" dirty="0" err="1"/>
              <a:t>Akadémia</a:t>
            </a:r>
            <a:r>
              <a:rPr lang="en-US" b="0" dirty="0"/>
              <a:t> program</a:t>
            </a:r>
          </a:p>
          <a:p>
            <a:pPr>
              <a:buFontTx/>
              <a:buNone/>
            </a:pPr>
            <a:r>
              <a:rPr lang="en-US" b="0" dirty="0" err="1"/>
              <a:t>Bevezetés</a:t>
            </a:r>
            <a:r>
              <a:rPr lang="en-US" b="0" dirty="0"/>
              <a:t> a </a:t>
            </a:r>
            <a:r>
              <a:rPr lang="en-US" b="0" dirty="0" err="1"/>
              <a:t>hálózatok</a:t>
            </a:r>
            <a:r>
              <a:rPr lang="en-US" b="0" dirty="0"/>
              <a:t> </a:t>
            </a:r>
            <a:r>
              <a:rPr lang="en-US" b="0" dirty="0" err="1"/>
              <a:t>világába</a:t>
            </a:r>
            <a:endParaRPr lang="en-US" b="0" dirty="0"/>
          </a:p>
          <a:p>
            <a:pPr>
              <a:buFontTx/>
              <a:buNone/>
            </a:pPr>
            <a:r>
              <a:rPr lang="en-US" sz="1300" b="0" dirty="0"/>
              <a:t>1. </a:t>
            </a:r>
            <a:r>
              <a:rPr lang="en-US" sz="1300" b="0" dirty="0" err="1"/>
              <a:t>fejezet</a:t>
            </a:r>
            <a:r>
              <a:rPr lang="en-US" sz="1300" b="0" dirty="0"/>
              <a:t>: A </a:t>
            </a:r>
            <a:r>
              <a:rPr lang="en-US" sz="1300" b="0" dirty="0" err="1"/>
              <a:t>vállalatok</a:t>
            </a:r>
            <a:r>
              <a:rPr lang="en-US" sz="1300" b="0" dirty="0"/>
              <a:t> </a:t>
            </a:r>
            <a:r>
              <a:rPr lang="en-US" sz="1300" b="0" dirty="0" err="1"/>
              <a:t>hálózati</a:t>
            </a:r>
            <a:r>
              <a:rPr lang="en-US" sz="1300" b="0" dirty="0"/>
              <a:t> </a:t>
            </a:r>
            <a:r>
              <a:rPr lang="en-US" sz="1300" b="0" dirty="0" err="1"/>
              <a:t>infrastruktúrájának</a:t>
            </a:r>
            <a:r>
              <a:rPr lang="en-US" sz="1300" b="0" dirty="0"/>
              <a:t> </a:t>
            </a:r>
            <a:r>
              <a:rPr lang="en-US" sz="1300" b="0" dirty="0" err="1"/>
              <a:t>megismerése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456705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/>
              <a:pPr algn="r"/>
              <a:t>3</a:t>
            </a:fld>
            <a:endParaRPr lang="en-US" sz="800" b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199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C9B772C-9A16-E444-84E4-86EFFD35BFA2}" type="slidenum">
              <a:rPr lang="en-US" sz="800"/>
              <a:pPr/>
              <a:t>4</a:t>
            </a:fld>
            <a:endParaRPr lang="en-US" sz="80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1. </a:t>
            </a:r>
            <a:r>
              <a:rPr lang="en-US" b="0" dirty="0" err="1"/>
              <a:t>fejezet</a:t>
            </a:r>
            <a:r>
              <a:rPr lang="hu-HU" b="0" dirty="0"/>
              <a:t>:</a:t>
            </a:r>
            <a:r>
              <a:rPr lang="en-US" b="0" dirty="0"/>
              <a:t> </a:t>
            </a:r>
            <a:r>
              <a:rPr lang="hu-HU" b="0" dirty="0"/>
              <a:t>Tartalomjegyzék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661556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</a:t>
            </a:r>
            <a:r>
              <a:rPr lang="en-US" b="0" dirty="0" err="1"/>
              <a:t>Hálózati</a:t>
            </a:r>
            <a:r>
              <a:rPr lang="en-US" b="0" dirty="0"/>
              <a:t> </a:t>
            </a:r>
            <a:r>
              <a:rPr lang="en-US" b="0" dirty="0" err="1"/>
              <a:t>Akadémia</a:t>
            </a:r>
            <a:r>
              <a:rPr lang="en-US" b="0" dirty="0"/>
              <a:t> program</a:t>
            </a:r>
          </a:p>
          <a:p>
            <a:pPr>
              <a:buFontTx/>
              <a:buNone/>
            </a:pPr>
            <a:r>
              <a:rPr lang="en-US" sz="1300" b="0" dirty="0" err="1"/>
              <a:t>Bevezetés</a:t>
            </a:r>
            <a:r>
              <a:rPr lang="en-US" sz="1300" b="0" dirty="0"/>
              <a:t> a </a:t>
            </a:r>
            <a:r>
              <a:rPr lang="en-US" sz="1300" b="0" dirty="0" err="1"/>
              <a:t>hálózatok</a:t>
            </a:r>
            <a:r>
              <a:rPr lang="en-US" sz="1300" b="0" dirty="0"/>
              <a:t> </a:t>
            </a:r>
            <a:r>
              <a:rPr lang="en-US" sz="1300" b="0" dirty="0" err="1"/>
              <a:t>világába</a:t>
            </a:r>
            <a:endParaRPr lang="en-US" sz="1300" b="0" baseline="0" dirty="0"/>
          </a:p>
          <a:p>
            <a:pPr>
              <a:buFontTx/>
              <a:buNone/>
            </a:pPr>
            <a:r>
              <a:rPr lang="en-US" sz="1300" b="0" dirty="0"/>
              <a:t>1. </a:t>
            </a:r>
            <a:r>
              <a:rPr lang="en-US" sz="1300" b="0" dirty="0" err="1"/>
              <a:t>fejezet</a:t>
            </a:r>
            <a:r>
              <a:rPr lang="en-US" sz="1300" b="0" dirty="0"/>
              <a:t>: A </a:t>
            </a:r>
            <a:r>
              <a:rPr lang="en-US" sz="1300" b="0" dirty="0" err="1"/>
              <a:t>vállalatok</a:t>
            </a:r>
            <a:r>
              <a:rPr lang="en-US" sz="1300" b="0" dirty="0"/>
              <a:t> </a:t>
            </a:r>
            <a:r>
              <a:rPr lang="en-US" sz="1300" b="0" dirty="0" err="1"/>
              <a:t>hálózati</a:t>
            </a:r>
            <a:r>
              <a:rPr lang="en-US" sz="1300" b="0" dirty="0"/>
              <a:t> </a:t>
            </a:r>
            <a:r>
              <a:rPr lang="en-US" sz="1300" b="0" dirty="0" err="1"/>
              <a:t>infrastruktúrájának</a:t>
            </a:r>
            <a:r>
              <a:rPr lang="en-US" sz="1300" b="0" dirty="0"/>
              <a:t> </a:t>
            </a:r>
            <a:r>
              <a:rPr lang="en-US" sz="1300" b="0" dirty="0" err="1"/>
              <a:t>megismerése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1526822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B085E8B-D399-554D-A2F9-428D37D8558B}" type="slidenum">
              <a:rPr lang="en-US" sz="800"/>
              <a:pPr/>
              <a:t>6</a:t>
            </a:fld>
            <a:endParaRPr lang="en-US" sz="80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1.1.1.1 </a:t>
            </a: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Hálózatok a mindennapi életünkben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1.1.1.2 </a:t>
            </a: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Technológia régen és most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137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574A9B6-3F6D-3B47-A0D1-43AF6B391162}" type="slidenum">
              <a:rPr lang="en-US" sz="800"/>
              <a:pPr/>
              <a:t>7</a:t>
            </a:fld>
            <a:endParaRPr lang="en-US" sz="80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1.1.1.3 A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globális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közösség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687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8</a:t>
            </a:fld>
            <a:endParaRPr lang="en-US" sz="80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1.1.1.4 </a:t>
            </a:r>
            <a:r>
              <a:rPr lang="pt-BR" sz="1200" dirty="0"/>
              <a:t>A hálózat hatása a tanulás folyamatára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1.1.1.5 </a:t>
            </a:r>
            <a:r>
              <a:rPr lang="pt-BR" sz="1200" dirty="0"/>
              <a:t>A hálózat hatása a </a:t>
            </a:r>
            <a:r>
              <a:rPr lang="hu-HU" sz="1200" dirty="0"/>
              <a:t>kommunikáció</a:t>
            </a:r>
            <a:r>
              <a:rPr lang="hu-HU" sz="1200" baseline="0" dirty="0"/>
              <a:t> </a:t>
            </a:r>
            <a:r>
              <a:rPr lang="pt-BR" sz="1200" dirty="0"/>
              <a:t>folyamatá</a:t>
            </a:r>
            <a:r>
              <a:rPr lang="hu-HU" sz="1200" dirty="0" err="1"/>
              <a:t>ra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1.1.1.6 </a:t>
            </a:r>
            <a:r>
              <a:rPr lang="pt-BR" sz="1200" dirty="0"/>
              <a:t>A hálózat hatása a </a:t>
            </a:r>
            <a:r>
              <a:rPr lang="hu-HU" sz="1200" dirty="0"/>
              <a:t>munkavégzés </a:t>
            </a:r>
            <a:r>
              <a:rPr lang="pt-BR" sz="1200" dirty="0"/>
              <a:t>folyamatá</a:t>
            </a:r>
            <a:r>
              <a:rPr lang="hu-HU" sz="1200" dirty="0" err="1"/>
              <a:t>ra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1.1.1.7 A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hatása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arra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ahogy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játszunk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991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960854F-6099-C645-9633-B44CFEAB8F51}" type="slidenum">
              <a:rPr lang="en-US" sz="800"/>
              <a:pPr/>
              <a:t>10</a:t>
            </a:fld>
            <a:endParaRPr lang="en-US" sz="80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1.1.2.1 </a:t>
            </a:r>
            <a:r>
              <a:rPr lang="hu-HU" dirty="0">
                <a:latin typeface="Arial" charset="0"/>
              </a:rPr>
              <a:t>Különböző méretű hálózatok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694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960854F-6099-C645-9633-B44CFEAB8F51}" type="slidenum">
              <a:rPr lang="en-US" sz="800"/>
              <a:pPr/>
              <a:t>11</a:t>
            </a:fld>
            <a:endParaRPr lang="en-US" sz="80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1.1.2.2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Kliensek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és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szerverek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1.1.2.3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Kliensek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és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szerverek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(</a:t>
            </a: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folytatás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888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960854F-6099-C645-9633-B44CFEAB8F51}" type="slidenum">
              <a:rPr lang="en-US" sz="800"/>
              <a:pPr/>
              <a:t>12</a:t>
            </a:fld>
            <a:endParaRPr lang="en-US" sz="80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nl-NL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1.1.2.4 Egyenrangú (peer-to-peer) állomások hálózata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858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</a:t>
            </a:r>
            <a:r>
              <a:rPr lang="en-US" b="0" dirty="0" err="1"/>
              <a:t>Hálózati</a:t>
            </a:r>
            <a:r>
              <a:rPr lang="en-US" b="0" dirty="0"/>
              <a:t> </a:t>
            </a:r>
            <a:r>
              <a:rPr lang="en-US" b="0" dirty="0" err="1"/>
              <a:t>Akadémia</a:t>
            </a:r>
            <a:r>
              <a:rPr lang="en-US" b="0" dirty="0"/>
              <a:t> program</a:t>
            </a:r>
          </a:p>
          <a:p>
            <a:pPr>
              <a:buFontTx/>
              <a:buNone/>
            </a:pPr>
            <a:r>
              <a:rPr lang="en-US" sz="1300" b="0" dirty="0" err="1"/>
              <a:t>Bevezetés</a:t>
            </a:r>
            <a:r>
              <a:rPr lang="en-US" sz="1300" b="0" dirty="0"/>
              <a:t> a </a:t>
            </a:r>
            <a:r>
              <a:rPr lang="en-US" sz="1300" b="0" dirty="0" err="1"/>
              <a:t>hálózatok</a:t>
            </a:r>
            <a:r>
              <a:rPr lang="en-US" sz="1300" b="0" dirty="0"/>
              <a:t> </a:t>
            </a:r>
            <a:r>
              <a:rPr lang="en-US" sz="1300" b="0" dirty="0" err="1"/>
              <a:t>világába</a:t>
            </a:r>
            <a:endParaRPr lang="en-US" sz="1300" b="0" baseline="0" dirty="0"/>
          </a:p>
          <a:p>
            <a:pPr>
              <a:buFontTx/>
              <a:buNone/>
            </a:pPr>
            <a:r>
              <a:rPr lang="en-US" sz="1300" b="0" dirty="0"/>
              <a:t>1. </a:t>
            </a:r>
            <a:r>
              <a:rPr lang="en-US" sz="1300" b="0" dirty="0" err="1"/>
              <a:t>fejezet</a:t>
            </a:r>
            <a:r>
              <a:rPr lang="en-US" sz="1300" b="0" dirty="0"/>
              <a:t>: A </a:t>
            </a:r>
            <a:r>
              <a:rPr lang="en-US" sz="1300" b="0" dirty="0" err="1"/>
              <a:t>vállalatok</a:t>
            </a:r>
            <a:r>
              <a:rPr lang="en-US" sz="1300" b="0" dirty="0"/>
              <a:t> </a:t>
            </a:r>
            <a:r>
              <a:rPr lang="en-US" sz="1300" b="0" dirty="0" err="1"/>
              <a:t>hálózati</a:t>
            </a:r>
            <a:r>
              <a:rPr lang="en-US" sz="1300" b="0" dirty="0"/>
              <a:t> </a:t>
            </a:r>
            <a:r>
              <a:rPr lang="en-US" sz="1300" b="0" dirty="0" err="1"/>
              <a:t>infrastruktúrájának</a:t>
            </a:r>
            <a:r>
              <a:rPr lang="en-US" sz="1300" b="0" dirty="0"/>
              <a:t> </a:t>
            </a:r>
            <a:r>
              <a:rPr lang="en-US" sz="1300" b="0" dirty="0" err="1"/>
              <a:t>megismerése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344920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B7DDF54-6F0F-7949-9A6F-AE3E2DFFAA6B}" type="slidenum">
              <a:rPr lang="en-US" sz="800"/>
              <a:pPr/>
              <a:t>14</a:t>
            </a:fld>
            <a:endParaRPr lang="en-US" sz="80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1.2.1.1 A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elemei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39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/>
              <a:pPr/>
              <a:t>15</a:t>
            </a:fld>
            <a:endParaRPr lang="en-US" sz="80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tr-TR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1.2.1.2 Végberendezések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64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EE133E6-1A71-3948-B0E1-530C95DEAFDE}" type="slidenum">
              <a:rPr lang="en-US" sz="800"/>
              <a:pPr/>
              <a:t>16</a:t>
            </a:fld>
            <a:endParaRPr lang="en-US" sz="80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1.2.1.3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Közvetítő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hálózati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eszközök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575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0AE87D6-DF4D-4E45-B583-CE3BFF4036EF}" type="slidenum">
              <a:rPr lang="en-US" sz="800"/>
              <a:pPr/>
              <a:t>17</a:t>
            </a:fld>
            <a:endParaRPr lang="en-US" sz="80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1.2.1.4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Hálózati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átviteli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közegek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40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BC8A3B6-0674-F44D-BA38-03FA95C9519C}" type="slidenum">
              <a:rPr lang="en-US" sz="800"/>
              <a:pPr/>
              <a:t>18</a:t>
            </a:fld>
            <a:endParaRPr lang="en-US" sz="800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1.2.1.5 A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hálózatok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megjelenítése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1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BC8A3B6-0674-F44D-BA38-03FA95C9519C}" type="slidenum">
              <a:rPr lang="en-US" sz="800"/>
              <a:pPr/>
              <a:t>19</a:t>
            </a:fld>
            <a:endParaRPr lang="en-US" sz="800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1.2.1.6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Topológiai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ábrák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9254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2AE2FE9-10CC-EB44-99B8-71A84018A103}" type="slidenum">
              <a:rPr lang="en-US" sz="800"/>
              <a:pPr/>
              <a:t>20</a:t>
            </a:fld>
            <a:endParaRPr lang="en-US" sz="800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1.2.2.1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Hálózattípusok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949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0916A83-5D55-324C-976E-4F8A0E9519DD}" type="slidenum">
              <a:rPr lang="en-US" sz="800"/>
              <a:pPr/>
              <a:t>21</a:t>
            </a:fld>
            <a:endParaRPr lang="en-US" sz="800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1.2.2.2 </a:t>
            </a: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Helyi hálózatok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708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5C93694-71FA-C543-B9DA-1895F89A102F}" type="slidenum">
              <a:rPr lang="en-US" sz="800"/>
              <a:pPr/>
              <a:t>22</a:t>
            </a:fld>
            <a:endParaRPr lang="en-US" sz="800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1.2.2.3 </a:t>
            </a:r>
            <a:r>
              <a:rPr lang="hu-HU" dirty="0">
                <a:latin typeface="Arial" charset="0"/>
              </a:rPr>
              <a:t>Nagytávolságú hálózatok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77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C92B9A9-1796-DD47-8939-467BF5375E8D}" type="slidenum">
              <a:rPr lang="en-US" sz="800"/>
              <a:pPr/>
              <a:t>23</a:t>
            </a:fld>
            <a:endParaRPr lang="en-US" sz="80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1.2.3.1</a:t>
            </a:r>
            <a:r>
              <a:rPr lang="hu-HU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Az i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nternet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2265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C9E4595-2766-1F4A-827A-E14A6DB7BA41}" type="slidenum">
              <a:rPr lang="en-US" sz="800"/>
              <a:pPr/>
              <a:t>24</a:t>
            </a:fld>
            <a:endParaRPr lang="en-US" sz="80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1.2.3.2 Intranet </a:t>
            </a: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és e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xtranet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7816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31F6F61-D3AB-584B-9A25-1840AFE9EBEA}" type="slidenum">
              <a:rPr lang="en-US" sz="800"/>
              <a:pPr/>
              <a:t>26</a:t>
            </a:fld>
            <a:endParaRPr lang="en-US" sz="80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1.2.4.1 </a:t>
            </a: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Internet </a:t>
            </a:r>
            <a:r>
              <a:rPr lang="hu-HU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hozzzáférési</a:t>
            </a: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technológiák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1.2.4.2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Távoli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felhasználók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internet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csatlakozása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1312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5D52550-1C6D-E845-B51F-5F8BE6171487}" type="slidenum">
              <a:rPr lang="en-US" sz="800"/>
              <a:pPr/>
              <a:t>27</a:t>
            </a:fld>
            <a:endParaRPr lang="en-US" sz="80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1.2.4.1 Internet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hozzzáférési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technológiák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1.2.4.3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Vállalatok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internet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csatlakozása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745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</a:t>
            </a:r>
            <a:r>
              <a:rPr lang="en-US" b="0" dirty="0" err="1"/>
              <a:t>Hálózati</a:t>
            </a:r>
            <a:r>
              <a:rPr lang="en-US" b="0" dirty="0"/>
              <a:t> </a:t>
            </a:r>
            <a:r>
              <a:rPr lang="en-US" b="0" dirty="0" err="1"/>
              <a:t>Akadémia</a:t>
            </a:r>
            <a:r>
              <a:rPr lang="en-US" b="0" dirty="0"/>
              <a:t> program</a:t>
            </a:r>
          </a:p>
          <a:p>
            <a:pPr>
              <a:buFontTx/>
              <a:buNone/>
            </a:pPr>
            <a:r>
              <a:rPr lang="en-US" sz="1300" b="0" dirty="0" err="1"/>
              <a:t>Bevezetés</a:t>
            </a:r>
            <a:r>
              <a:rPr lang="en-US" sz="1300" b="0" dirty="0"/>
              <a:t> a </a:t>
            </a:r>
            <a:r>
              <a:rPr lang="en-US" sz="1300" b="0" dirty="0" err="1"/>
              <a:t>hálózatok</a:t>
            </a:r>
            <a:r>
              <a:rPr lang="en-US" sz="1300" b="0" dirty="0"/>
              <a:t> </a:t>
            </a:r>
            <a:r>
              <a:rPr lang="en-US" sz="1300" b="0" dirty="0" err="1"/>
              <a:t>világába</a:t>
            </a:r>
            <a:endParaRPr lang="en-US" sz="1300" b="0" baseline="0" dirty="0"/>
          </a:p>
          <a:p>
            <a:pPr>
              <a:buFontTx/>
              <a:buNone/>
            </a:pPr>
            <a:r>
              <a:rPr lang="en-US" sz="1300" b="0" dirty="0"/>
              <a:t>1. </a:t>
            </a:r>
            <a:r>
              <a:rPr lang="en-US" sz="1300" b="0" dirty="0" err="1"/>
              <a:t>fejezet</a:t>
            </a:r>
            <a:r>
              <a:rPr lang="en-US" sz="1300" b="0" dirty="0"/>
              <a:t>: A </a:t>
            </a:r>
            <a:r>
              <a:rPr lang="en-US" sz="1300" b="0" dirty="0" err="1"/>
              <a:t>vállalatok</a:t>
            </a:r>
            <a:r>
              <a:rPr lang="en-US" sz="1300" b="0" dirty="0"/>
              <a:t> </a:t>
            </a:r>
            <a:r>
              <a:rPr lang="en-US" sz="1300" b="0" dirty="0" err="1"/>
              <a:t>hálózati</a:t>
            </a:r>
            <a:r>
              <a:rPr lang="en-US" sz="1300" b="0" dirty="0"/>
              <a:t> </a:t>
            </a:r>
            <a:r>
              <a:rPr lang="en-US" sz="1300" b="0" dirty="0" err="1"/>
              <a:t>infrastruktúrájának</a:t>
            </a:r>
            <a:r>
              <a:rPr lang="en-US" sz="1300" b="0" dirty="0"/>
              <a:t> </a:t>
            </a:r>
            <a:r>
              <a:rPr lang="en-US" sz="1300" b="0" dirty="0" err="1"/>
              <a:t>megismerése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2007182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17FB9E6-8694-144F-93D6-FB3ABD0E94A0}" type="slidenum">
              <a:rPr lang="en-US" sz="800"/>
              <a:pPr/>
              <a:t>30</a:t>
            </a:fld>
            <a:endParaRPr lang="en-US" sz="80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1.3.1.1 A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konvergáló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9213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D993268-E953-2F42-8C5E-336561899F89}" type="slidenum">
              <a:rPr lang="en-US" sz="800"/>
              <a:pPr/>
              <a:t>31</a:t>
            </a:fld>
            <a:endParaRPr lang="en-US" sz="800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1.3.1.2 A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jövő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tervezése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7778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B8A5DA9-7DB1-7248-9C05-61318208F4DE}" type="slidenum">
              <a:rPr lang="en-US" sz="800"/>
              <a:pPr/>
              <a:t>33</a:t>
            </a:fld>
            <a:endParaRPr lang="en-US" sz="800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1.3.2.1 A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hálózati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architektúra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635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3927EE6-0587-B643-8AE4-3395E115027B}" type="slidenum">
              <a:rPr lang="en-US" sz="800"/>
              <a:pPr/>
              <a:t>34</a:t>
            </a:fld>
            <a:endParaRPr lang="en-US" sz="800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1.3.2.2 </a:t>
            </a: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Hibatűrés vonalkapcsolt hálózatokban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053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3927EE6-0587-B643-8AE4-3395E115027B}" type="slidenum">
              <a:rPr lang="en-US" sz="800"/>
              <a:pPr/>
              <a:t>35</a:t>
            </a:fld>
            <a:endParaRPr lang="en-US" sz="800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1.3.2.3 </a:t>
            </a: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Hibatűrés csomagkapcsolt hálózatokban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7977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7722882-7E70-6043-B58D-8E593AE71A70}" type="slidenum">
              <a:rPr lang="en-US" sz="800"/>
              <a:pPr/>
              <a:t>36</a:t>
            </a:fld>
            <a:endParaRPr lang="en-US" sz="800"/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1.3.2.4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Skálázható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2628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1A4364D-7D8A-FF42-B132-A95366D63434}" type="slidenum">
              <a:rPr lang="en-US" sz="800"/>
              <a:pPr/>
              <a:t>37</a:t>
            </a:fld>
            <a:endParaRPr lang="en-US" sz="800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1.3.2.5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QoS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biztosítása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6082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26C4740-6176-6B42-AE8B-248565D05237}" type="slidenum">
              <a:rPr lang="en-US" sz="800"/>
              <a:pPr/>
              <a:t>38</a:t>
            </a:fld>
            <a:endParaRPr lang="en-US" sz="800"/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1.3.2.6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Hálózatbiztonság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987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02A389-8690-465F-BB28-DC61C90E42E7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0" dirty="0"/>
              <a:t>Cisco </a:t>
            </a:r>
            <a:r>
              <a:rPr lang="en-US" b="0" dirty="0" err="1"/>
              <a:t>Hálózati</a:t>
            </a:r>
            <a:r>
              <a:rPr lang="en-US" b="0" dirty="0"/>
              <a:t> </a:t>
            </a:r>
            <a:r>
              <a:rPr lang="en-US" b="0" dirty="0" err="1"/>
              <a:t>Akadémia</a:t>
            </a:r>
            <a:r>
              <a:rPr lang="en-US" b="0" dirty="0"/>
              <a:t> program</a:t>
            </a:r>
          </a:p>
          <a:p>
            <a:pPr>
              <a:buFontTx/>
              <a:buNone/>
            </a:pPr>
            <a:r>
              <a:rPr lang="en-US" sz="1300" b="0" dirty="0" err="1"/>
              <a:t>Bevezetés</a:t>
            </a:r>
            <a:r>
              <a:rPr lang="en-US" sz="1300" b="0" dirty="0"/>
              <a:t> a </a:t>
            </a:r>
            <a:r>
              <a:rPr lang="en-US" sz="1300" b="0" dirty="0" err="1"/>
              <a:t>hálózatok</a:t>
            </a:r>
            <a:r>
              <a:rPr lang="en-US" sz="1300" b="0" dirty="0"/>
              <a:t> </a:t>
            </a:r>
            <a:r>
              <a:rPr lang="en-US" sz="1300" b="0" dirty="0" err="1"/>
              <a:t>világába</a:t>
            </a:r>
            <a:endParaRPr lang="en-US" sz="1300" b="0" baseline="0" dirty="0"/>
          </a:p>
          <a:p>
            <a:pPr>
              <a:buFontTx/>
              <a:buNone/>
            </a:pPr>
            <a:r>
              <a:rPr lang="en-US" sz="1300" b="0" dirty="0"/>
              <a:t>1. </a:t>
            </a:r>
            <a:r>
              <a:rPr lang="en-US" sz="1300" b="0" dirty="0" err="1"/>
              <a:t>fejezet</a:t>
            </a:r>
            <a:r>
              <a:rPr lang="en-US" sz="1300" b="0" dirty="0"/>
              <a:t>: A </a:t>
            </a:r>
            <a:r>
              <a:rPr lang="en-US" sz="1300" b="0" dirty="0" err="1"/>
              <a:t>vállalatok</a:t>
            </a:r>
            <a:r>
              <a:rPr lang="en-US" sz="1300" b="0" dirty="0"/>
              <a:t> </a:t>
            </a:r>
            <a:r>
              <a:rPr lang="en-US" sz="1300" b="0" dirty="0" err="1"/>
              <a:t>hálózati</a:t>
            </a:r>
            <a:r>
              <a:rPr lang="en-US" sz="1300" b="0" dirty="0"/>
              <a:t> </a:t>
            </a:r>
            <a:r>
              <a:rPr lang="en-US" sz="1300" b="0" dirty="0" err="1"/>
              <a:t>infrastruktúrájának</a:t>
            </a:r>
            <a:r>
              <a:rPr lang="en-US" sz="1300" b="0" dirty="0"/>
              <a:t> </a:t>
            </a:r>
            <a:r>
              <a:rPr lang="en-US" sz="1300" b="0" dirty="0" err="1"/>
              <a:t>megismerése</a:t>
            </a: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36038540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E7691EC-BB62-0C4B-A1A0-95FDF2391D96}" type="slidenum">
              <a:rPr lang="en-US" sz="800"/>
              <a:pPr/>
              <a:t>41</a:t>
            </a:fld>
            <a:endParaRPr lang="en-US" sz="80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hu-HU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1.4.1.1 Új trendek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1698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3FE1D13-24F9-AD40-B322-F885E4C0385F}" type="slidenum">
              <a:rPr lang="en-US" sz="800"/>
              <a:pPr/>
              <a:t>42</a:t>
            </a:fld>
            <a:endParaRPr lang="en-US" sz="800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1.4.1.2 BYOD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272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476F820-85C4-F142-B35E-4A6845A574F0}" type="slidenum">
              <a:rPr lang="en-US" sz="800"/>
              <a:pPr/>
              <a:t>43</a:t>
            </a:fld>
            <a:endParaRPr lang="en-US" sz="80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1.4.1.3 Online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csoportmunka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557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7C2DEEB-8ACC-7644-9010-3929E6BDCA5B}" type="slidenum">
              <a:rPr lang="en-US" sz="800"/>
              <a:pPr/>
              <a:t>44</a:t>
            </a:fld>
            <a:endParaRPr lang="en-US" sz="800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1.4.1.4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Videó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kommunikáció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83168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2355F44-ACAC-7043-A397-8E564A5029A6}" type="slidenum">
              <a:rPr lang="en-US" sz="800"/>
              <a:pPr/>
              <a:t>45</a:t>
            </a:fld>
            <a:endParaRPr lang="en-US" sz="800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1.4.1.5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Felhő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alapú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szolgáltatások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4696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0F44EFC-A188-154E-9D01-11C485224BED}" type="slidenum">
              <a:rPr lang="en-US" sz="800"/>
              <a:pPr/>
              <a:t>46</a:t>
            </a:fld>
            <a:endParaRPr lang="en-US" sz="80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1.4.1.6 </a:t>
            </a:r>
            <a:r>
              <a:rPr lang="hu-HU" b="0" dirty="0"/>
              <a:t>Adatközpontok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5251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0F44EFC-A188-154E-9D01-11C485224BED}" type="slidenum">
              <a:rPr lang="en-US" sz="800"/>
              <a:pPr/>
              <a:t>47</a:t>
            </a:fld>
            <a:endParaRPr lang="en-US" sz="80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1.4.2.1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Technológiai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trendek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az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otthonunkban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9439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0F44EFC-A188-154E-9D01-11C485224BED}" type="slidenum">
              <a:rPr lang="en-US" sz="800"/>
              <a:pPr/>
              <a:t>48</a:t>
            </a:fld>
            <a:endParaRPr lang="en-US" sz="80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1.4.2.2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az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elektromos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hálózaton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7378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0F44EFC-A188-154E-9D01-11C485224BED}" type="slidenum">
              <a:rPr lang="en-US" sz="800"/>
              <a:pPr/>
              <a:t>49</a:t>
            </a:fld>
            <a:endParaRPr lang="en-US" sz="80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1.4.2.3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Vezeték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nélküli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szélessávú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hozzáférés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0519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2C3DC29-09CB-604F-B268-FE26560AF238}" type="slidenum">
              <a:rPr lang="en-US" sz="800"/>
              <a:pPr/>
              <a:t>50</a:t>
            </a:fld>
            <a:endParaRPr lang="en-US" sz="80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12713" marR="0" indent="-112713" algn="l" defTabSz="1020763" rtl="0" eaLnBrk="0" fontAlgn="base" latinLnBrk="0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1.4.3.1 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 biztonsági fenyegetések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4113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0C64FFB-B6CF-4440-B5EC-60CB07119845}" type="slidenum">
              <a:rPr lang="en-US" sz="800"/>
              <a:pPr/>
              <a:t>51</a:t>
            </a:fld>
            <a:endParaRPr lang="en-US" sz="80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1.4.3.1 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0"/>
                <a:cs typeface="ＭＳ Ｐゴシック" charset="0"/>
              </a:rPr>
              <a:t>A biztonsági fenyegetések (folytatás)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8986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760EC05-DA1F-874D-947F-5C8F82065C1C}" type="slidenum">
              <a:rPr lang="en-US" sz="800"/>
              <a:pPr/>
              <a:t>52</a:t>
            </a:fld>
            <a:endParaRPr lang="en-US" sz="80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1.4.3.2 </a:t>
            </a:r>
            <a:r>
              <a:rPr lang="hu-HU" b="0" dirty="0"/>
              <a:t>Biztonsági megoldások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739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30F7306-6C16-064C-839B-156BE5B973D9}" type="slidenum">
              <a:rPr lang="en-US" sz="800"/>
              <a:pPr/>
              <a:t>53</a:t>
            </a:fld>
            <a:endParaRPr lang="en-US" sz="80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1.4.4.1 </a:t>
            </a:r>
            <a:r>
              <a:rPr lang="hu-HU" b="0" dirty="0"/>
              <a:t>Cisco hálózati architektúrák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44366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3C55D1D-B3E8-A64F-957F-FCAFD9CC39AB}" type="slidenum">
              <a:rPr lang="en-US" sz="800"/>
              <a:pPr/>
              <a:t>54</a:t>
            </a:fld>
            <a:endParaRPr lang="en-US" sz="80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1.4.4.2 CCNA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1892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A7AF211-02D4-CA4C-B739-BDD3E82BAC44}" type="slidenum">
              <a:rPr lang="en-US" sz="800"/>
              <a:pPr/>
              <a:t>55</a:t>
            </a:fld>
            <a:endParaRPr lang="en-US" sz="80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err="1"/>
              <a:t>Összefoglalás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6852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A7AF211-02D4-CA4C-B739-BDD3E82BAC44}" type="slidenum">
              <a:rPr lang="en-US" sz="800"/>
              <a:pPr/>
              <a:t>56</a:t>
            </a:fld>
            <a:endParaRPr lang="en-US" sz="80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 err="1"/>
              <a:t>Összefoglalás</a:t>
            </a:r>
            <a:r>
              <a:rPr lang="en-US" dirty="0"/>
              <a:t> (</a:t>
            </a:r>
            <a:r>
              <a:rPr lang="hu-HU" dirty="0"/>
              <a:t>folyt</a:t>
            </a:r>
            <a:r>
              <a:rPr lang="en-US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42005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 dirty="0">
                <a:solidFill>
                  <a:srgbClr val="D3D3D3"/>
                </a:solidFill>
              </a:rPr>
              <a:t>1. </a:t>
            </a:r>
            <a:r>
              <a:rPr lang="en-US" sz="700" dirty="0" err="1">
                <a:solidFill>
                  <a:srgbClr val="D3D3D3"/>
                </a:solidFill>
              </a:rPr>
              <a:t>fejezet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DC7FBAF0-BCF5-8741-945F-3C6763791038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54027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0229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687390"/>
            <a:ext cx="7940675" cy="4720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097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15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894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02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836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485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74995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901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52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766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7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7F1BC4EF-034A-F647-AA58-B71D58802FDB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848856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47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2851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231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373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8482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569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2533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74911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291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3160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</a:pPr>
            <a:r>
              <a:rPr lang="en-US" sz="700" dirty="0">
                <a:solidFill>
                  <a:srgbClr val="D3D3D3"/>
                </a:solidFill>
              </a:rPr>
              <a:t>1. </a:t>
            </a:r>
            <a:r>
              <a:rPr lang="en-US" sz="700" dirty="0" err="1">
                <a:solidFill>
                  <a:srgbClr val="D3D3D3"/>
                </a:solidFill>
              </a:rPr>
              <a:t>fejezet</a:t>
            </a:r>
            <a:endParaRPr lang="en-US" sz="700" dirty="0">
              <a:solidFill>
                <a:srgbClr val="D3D3D3"/>
              </a:solidFill>
            </a:endParaRP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28856D66-2D7E-BA44-8BF8-F720D8CAD36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6398" y="2078328"/>
            <a:ext cx="7940675" cy="3950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193868" y="394392"/>
            <a:ext cx="877215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3075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3076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fld id="{6084AB3D-AE30-934E-B0BC-A74C2CCEE44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3077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3109" y="1539502"/>
            <a:ext cx="8733677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78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3079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</a:pPr>
            <a:r>
              <a:rPr lang="en-US" sz="70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3080" name="Picture 8" descr="Rev08_Cisco_BrandBar10_060408.png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45" r:id="rId2"/>
    <p:sldLayoutId id="2147484046" r:id="rId3"/>
    <p:sldLayoutId id="2147484047" r:id="rId4"/>
    <p:sldLayoutId id="2147484048" r:id="rId5"/>
    <p:sldLayoutId id="2147484049" r:id="rId6"/>
    <p:sldLayoutId id="2147484050" r:id="rId7"/>
    <p:sldLayoutId id="2147484051" r:id="rId8"/>
    <p:sldLayoutId id="2147484052" r:id="rId9"/>
    <p:sldLayoutId id="2147484053" r:id="rId10"/>
    <p:sldLayoutId id="2147484054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ＭＳ Ｐゴシック" charset="0"/>
          <a:cs typeface="ＭＳ Ｐゴシック" charset="0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charset="0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Relationship Id="rId4" Type="http://schemas.openxmlformats.org/officeDocument/2006/relationships/comments" Target="../comments/commen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3. óra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77763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Arial" charset="0"/>
              </a:rPr>
              <a:t>1. </a:t>
            </a:r>
            <a:r>
              <a:rPr lang="en-US" sz="2800" dirty="0" err="1">
                <a:latin typeface="Arial" charset="0"/>
              </a:rPr>
              <a:t>fejezet</a:t>
            </a:r>
            <a:r>
              <a:rPr lang="en-US" sz="2800" dirty="0">
                <a:latin typeface="Arial" charset="0"/>
              </a:rPr>
              <a:t>:</a:t>
            </a:r>
            <a:br>
              <a:rPr lang="en-US" sz="2800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A </a:t>
            </a:r>
            <a:r>
              <a:rPr lang="en-US" sz="2800" dirty="0" err="1">
                <a:latin typeface="Arial" charset="0"/>
              </a:rPr>
              <a:t>vállalatok</a:t>
            </a:r>
            <a:r>
              <a:rPr lang="en-US" sz="2800" dirty="0">
                <a:latin typeface="Arial" charset="0"/>
              </a:rPr>
              <a:t> </a:t>
            </a:r>
            <a:r>
              <a:rPr lang="en-US" sz="2800" dirty="0" err="1">
                <a:latin typeface="Arial" charset="0"/>
              </a:rPr>
              <a:t>hálózati</a:t>
            </a:r>
            <a:r>
              <a:rPr lang="en-US" sz="2800" dirty="0">
                <a:latin typeface="Arial" charset="0"/>
              </a:rPr>
              <a:t> </a:t>
            </a:r>
            <a:r>
              <a:rPr lang="en-US" sz="2800" dirty="0" err="1">
                <a:latin typeface="Arial" charset="0"/>
              </a:rPr>
              <a:t>infrastruktúrájának</a:t>
            </a:r>
            <a:r>
              <a:rPr lang="en-US" sz="2800" dirty="0">
                <a:latin typeface="Arial" charset="0"/>
              </a:rPr>
              <a:t> </a:t>
            </a:r>
            <a:r>
              <a:rPr lang="en-US" sz="2800" dirty="0" err="1">
                <a:latin typeface="Arial" charset="0"/>
              </a:rPr>
              <a:t>megismerése</a:t>
            </a:r>
            <a:endParaRPr lang="en-US" sz="2800" dirty="0">
              <a:solidFill>
                <a:schemeClr val="folHlink"/>
              </a:solidFill>
              <a:latin typeface="Arial" charset="0"/>
            </a:endParaRP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6788150" cy="658812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sz="2400" dirty="0" err="1">
                <a:latin typeface="Arial" charset="0"/>
              </a:rPr>
              <a:t>Bevezetés</a:t>
            </a:r>
            <a:r>
              <a:rPr lang="en-US" sz="2400" dirty="0">
                <a:latin typeface="Arial" charset="0"/>
              </a:rPr>
              <a:t> a </a:t>
            </a:r>
            <a:r>
              <a:rPr lang="en-US" sz="2400" dirty="0" err="1">
                <a:latin typeface="Arial" charset="0"/>
              </a:rPr>
              <a:t>hálózatok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err="1">
                <a:latin typeface="Arial" charset="0"/>
              </a:rPr>
              <a:t>világába</a:t>
            </a: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 idx="4294967295"/>
          </p:nvPr>
        </p:nvSpPr>
        <p:spPr>
          <a:xfrm>
            <a:off x="655638" y="609600"/>
            <a:ext cx="8145462" cy="838200"/>
          </a:xfrm>
        </p:spPr>
        <p:txBody>
          <a:bodyPr/>
          <a:lstStyle/>
          <a:p>
            <a:pPr eaLnBrk="1" hangingPunct="1"/>
            <a:r>
              <a:rPr lang="hu-HU" dirty="0"/>
              <a:t>Témakörök</a:t>
            </a:r>
            <a:endParaRPr lang="en-US" dirty="0"/>
          </a:p>
        </p:txBody>
      </p:sp>
      <p:sp>
        <p:nvSpPr>
          <p:cNvPr id="4099" name="Rectangle 34"/>
          <p:cNvSpPr>
            <a:spLocks noGrp="1" noChangeArrowheads="1"/>
          </p:cNvSpPr>
          <p:nvPr>
            <p:ph type="body" idx="4294967295"/>
          </p:nvPr>
        </p:nvSpPr>
        <p:spPr>
          <a:xfrm>
            <a:off x="619780" y="1792941"/>
            <a:ext cx="7940675" cy="4252259"/>
          </a:xfrm>
        </p:spPr>
        <p:txBody>
          <a:bodyPr/>
          <a:lstStyle/>
          <a:p>
            <a:pPr marL="0" indent="0">
              <a:buNone/>
            </a:pPr>
            <a:r>
              <a:rPr lang="hu-HU" sz="2000" dirty="0"/>
              <a:t>A fejezet elvégzését követően a diákok tisztában lesznek a következő fogalmakkal:</a:t>
            </a:r>
          </a:p>
          <a:p>
            <a:r>
              <a:rPr lang="hu-HU" sz="2000" dirty="0"/>
              <a:t>A különböző típusú hálózatok  használata a mindennapokban</a:t>
            </a:r>
          </a:p>
          <a:p>
            <a:r>
              <a:rPr lang="hu-HU" sz="2000" dirty="0"/>
              <a:t>A kis- és közepes vállalatok hálózataiban használt topológiák és eszközök</a:t>
            </a:r>
          </a:p>
          <a:p>
            <a:r>
              <a:rPr lang="hu-HU" sz="2000" dirty="0"/>
              <a:t>Egy kis- és közepes vállalat kommunikációját támogató hálózat alapvető tulajdonságai</a:t>
            </a:r>
          </a:p>
          <a:p>
            <a:r>
              <a:rPr lang="hu-HU" sz="2000" dirty="0"/>
              <a:t>Hálózati trendek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065710895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dirty="0">
                <a:latin typeface="Arial" charset="0"/>
              </a:rPr>
              <a:t>Tartalomjegyzék</a:t>
            </a:r>
            <a:endParaRPr lang="en-US" dirty="0">
              <a:latin typeface="Arial" charset="0"/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dirty="0">
                <a:latin typeface="Arial" charset="0"/>
              </a:rPr>
              <a:t>1.1  </a:t>
            </a:r>
            <a:r>
              <a:rPr lang="en-US" dirty="0" err="1">
                <a:latin typeface="Arial" charset="0"/>
              </a:rPr>
              <a:t>Globálisan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összekapcsolódva</a:t>
            </a:r>
            <a:endParaRPr lang="en-US" dirty="0">
              <a:latin typeface="Arial" charset="0"/>
            </a:endParaRPr>
          </a:p>
          <a:p>
            <a:pPr lvl="1" eaLnBrk="1" hangingPunct="1"/>
            <a:r>
              <a:rPr lang="en-US" dirty="0">
                <a:latin typeface="Arial" charset="0"/>
              </a:rPr>
              <a:t>1.2  </a:t>
            </a:r>
            <a:r>
              <a:rPr lang="de-DE" dirty="0">
                <a:latin typeface="Arial" charset="0"/>
              </a:rPr>
              <a:t>LAN, WAN </a:t>
            </a:r>
            <a:r>
              <a:rPr lang="de-DE" dirty="0" err="1">
                <a:latin typeface="Arial" charset="0"/>
              </a:rPr>
              <a:t>és</a:t>
            </a:r>
            <a:r>
              <a:rPr lang="de-DE" dirty="0">
                <a:latin typeface="Arial" charset="0"/>
              </a:rPr>
              <a:t> </a:t>
            </a:r>
            <a:r>
              <a:rPr lang="de-DE" dirty="0" err="1">
                <a:latin typeface="Arial" charset="0"/>
              </a:rPr>
              <a:t>az</a:t>
            </a:r>
            <a:r>
              <a:rPr lang="de-DE" dirty="0">
                <a:latin typeface="Arial" charset="0"/>
              </a:rPr>
              <a:t> </a:t>
            </a:r>
            <a:r>
              <a:rPr lang="de-DE" dirty="0" err="1">
                <a:latin typeface="Arial" charset="0"/>
              </a:rPr>
              <a:t>internet</a:t>
            </a:r>
            <a:r>
              <a:rPr lang="de-DE" dirty="0">
                <a:latin typeface="Arial" charset="0"/>
              </a:rPr>
              <a:t> </a:t>
            </a:r>
            <a:endParaRPr lang="en-US" dirty="0">
              <a:latin typeface="Arial" charset="0"/>
            </a:endParaRPr>
          </a:p>
          <a:p>
            <a:pPr lvl="1" eaLnBrk="1" hangingPunct="1"/>
            <a:r>
              <a:rPr lang="en-US" dirty="0">
                <a:latin typeface="Arial" charset="0"/>
              </a:rPr>
              <a:t>1.3  A </a:t>
            </a:r>
            <a:r>
              <a:rPr lang="en-US" dirty="0" err="1">
                <a:latin typeface="Arial" charset="0"/>
              </a:rPr>
              <a:t>hálózat</a:t>
            </a:r>
            <a:r>
              <a:rPr lang="en-US" dirty="0">
                <a:latin typeface="Arial" charset="0"/>
              </a:rPr>
              <a:t> mint </a:t>
            </a:r>
            <a:r>
              <a:rPr lang="en-US" dirty="0" err="1">
                <a:latin typeface="Arial" charset="0"/>
              </a:rPr>
              <a:t>felület</a:t>
            </a:r>
            <a:endParaRPr lang="en-US" dirty="0">
              <a:latin typeface="Arial" charset="0"/>
            </a:endParaRPr>
          </a:p>
          <a:p>
            <a:pPr lvl="1" eaLnBrk="1" hangingPunct="1"/>
            <a:r>
              <a:rPr lang="en-US" dirty="0">
                <a:latin typeface="Arial" charset="0"/>
              </a:rPr>
              <a:t>1.4  A </a:t>
            </a:r>
            <a:r>
              <a:rPr lang="en-US" dirty="0" err="1">
                <a:latin typeface="Arial" charset="0"/>
              </a:rPr>
              <a:t>válltozó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hálózati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környezet</a:t>
            </a:r>
            <a:endParaRPr lang="en-US" dirty="0">
              <a:latin typeface="Arial" charset="0"/>
            </a:endParaRPr>
          </a:p>
          <a:p>
            <a:pPr lvl="1" eaLnBrk="1" hangingPunct="1"/>
            <a:r>
              <a:rPr lang="en-US" dirty="0">
                <a:latin typeface="Arial" charset="0"/>
              </a:rPr>
              <a:t>1.5  </a:t>
            </a:r>
            <a:r>
              <a:rPr lang="en-US" dirty="0" err="1">
                <a:latin typeface="Arial" charset="0"/>
              </a:rPr>
              <a:t>Összefoglalás</a:t>
            </a:r>
            <a:endParaRPr lang="en-US" dirty="0">
              <a:latin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400" dirty="0"/>
              <a:t>1.1  </a:t>
            </a:r>
            <a:r>
              <a:rPr lang="en-US" sz="2400" dirty="0" err="1"/>
              <a:t>Globálisan</a:t>
            </a:r>
            <a:r>
              <a:rPr lang="en-US" sz="2400" dirty="0"/>
              <a:t> </a:t>
            </a:r>
            <a:r>
              <a:rPr lang="en-US" sz="2400" dirty="0" err="1"/>
              <a:t>összekapcsolódva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3221210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1800" dirty="0">
                <a:latin typeface="Arial" charset="0"/>
              </a:rPr>
              <a:t>A hálózat jelene</a:t>
            </a:r>
            <a:br>
              <a:rPr lang="en-US" dirty="0">
                <a:latin typeface="Arial" charset="0"/>
              </a:rPr>
            </a:br>
            <a:r>
              <a:rPr lang="hu-HU" dirty="0">
                <a:latin typeface="Arial" charset="0"/>
              </a:rPr>
              <a:t>Hálózatok a mindennapokban</a:t>
            </a:r>
            <a:endParaRPr lang="en-US" dirty="0">
              <a:latin typeface="Arial" charset="0"/>
            </a:endParaRPr>
          </a:p>
        </p:txBody>
      </p:sp>
      <p:pic>
        <p:nvPicPr>
          <p:cNvPr id="5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rcRect l="-16126" r="-16126"/>
          <a:stretch>
            <a:fillRect/>
          </a:stretch>
        </p:blipFill>
        <p:spPr>
          <a:xfrm>
            <a:off x="-230146" y="1629149"/>
            <a:ext cx="8733677" cy="4926405"/>
          </a:xfrm>
        </p:spPr>
      </p:pic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A </a:t>
            </a:r>
            <a:r>
              <a:rPr lang="en-US" sz="1800" dirty="0" err="1">
                <a:latin typeface="Arial" charset="0"/>
              </a:rPr>
              <a:t>hálózat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jelene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 </a:t>
            </a:r>
            <a:r>
              <a:rPr lang="en-US" dirty="0" err="1">
                <a:latin typeface="Arial" charset="0"/>
              </a:rPr>
              <a:t>globális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közösség</a:t>
            </a:r>
            <a:endParaRPr lang="en-US" dirty="0">
              <a:latin typeface="Arial" charset="0"/>
            </a:endParaRPr>
          </a:p>
        </p:txBody>
      </p:sp>
      <p:pic>
        <p:nvPicPr>
          <p:cNvPr id="3" name="Content Placeholder 2" descr="telepresence.revHEAD.bmp"/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2" b="7702"/>
          <a:stretch>
            <a:fillRect/>
          </a:stretch>
        </p:blipFill>
        <p:spPr/>
      </p:pic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1800" dirty="0">
                <a:latin typeface="Arial" charset="0"/>
              </a:rPr>
              <a:t>A hálózat jelene</a:t>
            </a:r>
            <a:br>
              <a:rPr lang="en-US" dirty="0">
                <a:latin typeface="Arial" charset="0"/>
              </a:rPr>
            </a:br>
            <a:r>
              <a:rPr lang="hu-HU" dirty="0">
                <a:latin typeface="Arial" charset="0"/>
              </a:rPr>
              <a:t>Hálózatok a mindennapokban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 dirty="0"/>
              <a:t>A hálózat hatása a tanulás folyamatára</a:t>
            </a:r>
            <a:endParaRPr lang="en-US" sz="2000" dirty="0"/>
          </a:p>
          <a:p>
            <a:r>
              <a:rPr lang="pt-BR" sz="2000" dirty="0"/>
              <a:t>A hálózat hatása a </a:t>
            </a:r>
            <a:r>
              <a:rPr lang="hu-HU" sz="2000" dirty="0"/>
              <a:t>kommunikáció </a:t>
            </a:r>
            <a:r>
              <a:rPr lang="pt-BR" sz="2000" dirty="0"/>
              <a:t>folyamatá</a:t>
            </a:r>
            <a:r>
              <a:rPr lang="hu-HU" sz="2000" dirty="0" err="1"/>
              <a:t>ra</a:t>
            </a:r>
            <a:endParaRPr lang="hu-HU" sz="2000" dirty="0"/>
          </a:p>
          <a:p>
            <a:r>
              <a:rPr lang="pt-BR" sz="2000" dirty="0"/>
              <a:t>A hálózat hatása a </a:t>
            </a:r>
            <a:r>
              <a:rPr lang="hu-HU" sz="2000" dirty="0"/>
              <a:t>munkavégzés </a:t>
            </a:r>
            <a:r>
              <a:rPr lang="pt-BR" sz="2000" dirty="0"/>
              <a:t>folyamatá</a:t>
            </a:r>
            <a:r>
              <a:rPr lang="hu-HU" sz="2000" dirty="0" err="1"/>
              <a:t>ra</a:t>
            </a:r>
            <a:endParaRPr lang="hu-HU" sz="2000" dirty="0"/>
          </a:p>
          <a:p>
            <a:r>
              <a:rPr lang="pt-BR" sz="2000" dirty="0"/>
              <a:t>A hálózat hatása</a:t>
            </a:r>
            <a:r>
              <a:rPr lang="hu-HU" sz="2000" dirty="0"/>
              <a:t> arra, ahogy játszunk</a:t>
            </a:r>
          </a:p>
          <a:p>
            <a:endParaRPr lang="hu-HU" sz="2000" dirty="0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br>
              <a:rPr lang="hu-HU" dirty="0"/>
            </a:br>
            <a:br>
              <a:rPr lang="hu-HU" dirty="0"/>
            </a:br>
            <a:br>
              <a:rPr lang="hu-HU" dirty="0"/>
            </a:br>
            <a:r>
              <a:rPr lang="hu-HU" dirty="0"/>
              <a:t>Laborgyakorlat: 1.1.1.8</a:t>
            </a:r>
            <a:br>
              <a:rPr lang="en-US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hu-HU" b="1" dirty="0"/>
              <a:t>Hálózati csoportmunka eszközök megismerése</a:t>
            </a:r>
          </a:p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3676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Erőforrások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biztosítása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egy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hálózaton</a:t>
            </a:r>
            <a:br>
              <a:rPr lang="en-US" dirty="0">
                <a:latin typeface="Arial" charset="0"/>
              </a:rPr>
            </a:br>
            <a:r>
              <a:rPr lang="hu-HU" dirty="0">
                <a:latin typeface="Arial" charset="0"/>
              </a:rPr>
              <a:t>Különböző méretű hálózatok</a:t>
            </a:r>
            <a:endParaRPr lang="en-US" dirty="0">
              <a:latin typeface="Arial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-17880" r="-17880"/>
          <a:stretch>
            <a:fillRect/>
          </a:stretch>
        </p:blipFill>
        <p:spPr/>
      </p:pic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Erőforrások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biztosítása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egy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hálózaton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Kliensek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és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szerverek</a:t>
            </a:r>
            <a:endParaRPr lang="en-US" dirty="0">
              <a:latin typeface="Arial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7" t="9580" r="8291" b="9580"/>
          <a:stretch/>
        </p:blipFill>
        <p:spPr bwMode="auto">
          <a:xfrm>
            <a:off x="437330" y="1379696"/>
            <a:ext cx="4104183" cy="2806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153" y="3221088"/>
            <a:ext cx="3989230" cy="2952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3646563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487697"/>
            <a:ext cx="8772157" cy="1145110"/>
          </a:xfrm>
        </p:spPr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Erőforrások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biztosítása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egy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hálózaton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Egyenrangú</a:t>
            </a:r>
            <a:r>
              <a:rPr lang="en-US" dirty="0">
                <a:latin typeface="Arial" charset="0"/>
              </a:rPr>
              <a:t> (peer-to-peer) </a:t>
            </a:r>
            <a:r>
              <a:rPr lang="en-US" dirty="0" err="1">
                <a:latin typeface="Arial" charset="0"/>
              </a:rPr>
              <a:t>állomások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hálózata</a:t>
            </a:r>
            <a:endParaRPr lang="en-US" dirty="0">
              <a:latin typeface="Arial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13" r="-13678"/>
          <a:stretch/>
        </p:blipFill>
        <p:spPr bwMode="auto">
          <a:xfrm>
            <a:off x="681228" y="1558163"/>
            <a:ext cx="7954381" cy="4926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1405726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5836" y="2263775"/>
            <a:ext cx="4348902" cy="1481138"/>
          </a:xfrm>
        </p:spPr>
        <p:txBody>
          <a:bodyPr/>
          <a:lstStyle/>
          <a:p>
            <a:pPr eaLnBrk="1" hangingPunct="1"/>
            <a:r>
              <a:rPr lang="en-US" sz="2100" dirty="0"/>
              <a:t>1.2  </a:t>
            </a:r>
            <a:r>
              <a:rPr lang="de-DE" sz="2100" dirty="0"/>
              <a:t>LAN, WAN </a:t>
            </a:r>
            <a:r>
              <a:rPr lang="de-DE" sz="2100" dirty="0" err="1"/>
              <a:t>és</a:t>
            </a:r>
            <a:r>
              <a:rPr lang="de-DE" sz="2100" dirty="0"/>
              <a:t> </a:t>
            </a:r>
            <a:r>
              <a:rPr lang="de-DE" sz="2100" dirty="0" err="1"/>
              <a:t>az</a:t>
            </a:r>
            <a:r>
              <a:rPr lang="de-DE" sz="2100" dirty="0"/>
              <a:t> </a:t>
            </a:r>
            <a:r>
              <a:rPr lang="de-DE" sz="2100" dirty="0" err="1"/>
              <a:t>internet</a:t>
            </a:r>
            <a:r>
              <a:rPr lang="de-DE" sz="2100" dirty="0"/>
              <a:t> 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301179873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sz="1800" dirty="0">
                <a:latin typeface="Arial" charset="0"/>
              </a:rPr>
              <a:t>LAN, WAN </a:t>
            </a:r>
            <a:r>
              <a:rPr lang="de-DE" sz="1800" dirty="0" err="1">
                <a:latin typeface="Arial" charset="0"/>
              </a:rPr>
              <a:t>és</a:t>
            </a:r>
            <a:r>
              <a:rPr lang="de-DE" sz="1800" dirty="0">
                <a:latin typeface="Arial" charset="0"/>
              </a:rPr>
              <a:t> </a:t>
            </a:r>
            <a:r>
              <a:rPr lang="de-DE" sz="1800" dirty="0" err="1">
                <a:latin typeface="Arial" charset="0"/>
              </a:rPr>
              <a:t>az</a:t>
            </a:r>
            <a:r>
              <a:rPr lang="de-DE" sz="1800" dirty="0">
                <a:latin typeface="Arial" charset="0"/>
              </a:rPr>
              <a:t> </a:t>
            </a:r>
            <a:r>
              <a:rPr lang="de-DE" sz="1800" dirty="0" err="1">
                <a:latin typeface="Arial" charset="0"/>
              </a:rPr>
              <a:t>internet</a:t>
            </a:r>
            <a:r>
              <a:rPr lang="de-DE" sz="1800" dirty="0">
                <a:latin typeface="Arial" charset="0"/>
              </a:rPr>
              <a:t> 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 </a:t>
            </a:r>
            <a:r>
              <a:rPr lang="en-US" dirty="0" err="1">
                <a:latin typeface="Arial" charset="0"/>
              </a:rPr>
              <a:t>hálózat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elemei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2000" dirty="0"/>
              <a:t>A hálózati infrastruktúra három kategóriába sorolható:</a:t>
            </a:r>
          </a:p>
          <a:p>
            <a:r>
              <a:rPr lang="hu-HU" sz="2000" dirty="0"/>
              <a:t>Eszközök</a:t>
            </a:r>
          </a:p>
          <a:p>
            <a:r>
              <a:rPr lang="hu-HU" sz="2000" dirty="0"/>
              <a:t>Információhordozó közeg (vagy média)</a:t>
            </a:r>
          </a:p>
          <a:p>
            <a:r>
              <a:rPr lang="hu-HU" sz="2000" dirty="0"/>
              <a:t>Szolgáltatások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946" y="4387917"/>
            <a:ext cx="3651704" cy="16392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26" y="3949219"/>
            <a:ext cx="3658246" cy="23402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6389" y="2174028"/>
            <a:ext cx="3655168" cy="1775191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A </a:t>
            </a:r>
            <a:r>
              <a:rPr lang="en-US" sz="1800" dirty="0" err="1">
                <a:latin typeface="Arial" charset="0"/>
              </a:rPr>
              <a:t>hálózat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elemei</a:t>
            </a:r>
            <a:br>
              <a:rPr lang="en-US" dirty="0">
                <a:latin typeface="Arial" charset="0"/>
              </a:rPr>
            </a:br>
            <a:r>
              <a:rPr lang="hu-HU" b="0" dirty="0"/>
              <a:t>Végberendezések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Néhány példa a végberendezésekre:</a:t>
            </a:r>
          </a:p>
          <a:p>
            <a:r>
              <a:rPr lang="hu-HU" sz="2000" dirty="0"/>
              <a:t>számítógépek (munkaállomások, laptopok, fájl- és </a:t>
            </a:r>
            <a:r>
              <a:rPr lang="hu-HU" sz="2000" dirty="0" err="1"/>
              <a:t>webszerverek</a:t>
            </a:r>
            <a:r>
              <a:rPr lang="hu-HU" sz="2000" dirty="0"/>
              <a:t>),</a:t>
            </a:r>
          </a:p>
          <a:p>
            <a:r>
              <a:rPr lang="hu-HU" sz="2000" dirty="0"/>
              <a:t>hálózati nyomtatók,</a:t>
            </a:r>
          </a:p>
          <a:p>
            <a:r>
              <a:rPr lang="hu-HU" sz="2000" dirty="0"/>
              <a:t>IP (vagy </a:t>
            </a:r>
            <a:r>
              <a:rPr lang="hu-HU" sz="2000" dirty="0" err="1"/>
              <a:t>VoIP</a:t>
            </a:r>
            <a:r>
              <a:rPr lang="hu-HU" sz="2000" dirty="0"/>
              <a:t>) telefonok,</a:t>
            </a:r>
          </a:p>
          <a:p>
            <a:r>
              <a:rPr lang="hu-HU" sz="2000" dirty="0" err="1"/>
              <a:t>TelePresence</a:t>
            </a:r>
            <a:r>
              <a:rPr lang="hu-HU" sz="2000" dirty="0"/>
              <a:t> végpontok,</a:t>
            </a:r>
          </a:p>
          <a:p>
            <a:r>
              <a:rPr lang="hu-HU" sz="2000" dirty="0"/>
              <a:t>biztonsági kamerák,</a:t>
            </a:r>
          </a:p>
          <a:p>
            <a:r>
              <a:rPr lang="hu-HU" sz="2000" dirty="0"/>
              <a:t>mobil kézi készülékek (mint például </a:t>
            </a:r>
            <a:r>
              <a:rPr lang="hu-HU" sz="2000" dirty="0" err="1"/>
              <a:t>okostelefonok</a:t>
            </a:r>
            <a:r>
              <a:rPr lang="hu-HU" sz="2000" dirty="0"/>
              <a:t>, </a:t>
            </a:r>
            <a:r>
              <a:rPr lang="hu-HU" sz="2000" dirty="0" err="1"/>
              <a:t>tablet-ek</a:t>
            </a:r>
            <a:r>
              <a:rPr lang="hu-HU" sz="2000" dirty="0"/>
              <a:t>, </a:t>
            </a:r>
            <a:r>
              <a:rPr lang="hu-HU" sz="2000" dirty="0" err="1"/>
              <a:t>PDA-k</a:t>
            </a:r>
            <a:r>
              <a:rPr lang="hu-HU" sz="2000" dirty="0"/>
              <a:t>, vezeték nélküli hitelkártya-olvasók és vonalkód szkennerek).</a:t>
            </a: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A </a:t>
            </a:r>
            <a:r>
              <a:rPr lang="en-US" sz="1800" dirty="0" err="1">
                <a:latin typeface="Arial" charset="0"/>
              </a:rPr>
              <a:t>hálózat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elemei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Network Infrastructure Devices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Példák a közvetítő hálózati eszközökre:</a:t>
            </a:r>
          </a:p>
          <a:p>
            <a:r>
              <a:rPr lang="hu-HU" sz="2000" dirty="0"/>
              <a:t>hálózati hozzáférést biztosító berendezések (kapcsolók és a vezeték nélküli hozzáférési pontok),</a:t>
            </a:r>
          </a:p>
          <a:p>
            <a:r>
              <a:rPr lang="hu-HU" sz="2000" dirty="0"/>
              <a:t>hálózat-összekapcsoló (</a:t>
            </a:r>
            <a:r>
              <a:rPr lang="hu-HU" sz="2000" dirty="0" err="1"/>
              <a:t>internetworking</a:t>
            </a:r>
            <a:r>
              <a:rPr lang="hu-HU" sz="2000" dirty="0"/>
              <a:t>) eszközök, mint például a forgalomirányítók,</a:t>
            </a:r>
          </a:p>
          <a:p>
            <a:r>
              <a:rPr lang="hu-HU" sz="2000" dirty="0"/>
              <a:t>biztonsági eszközök (tűzfalak).</a:t>
            </a: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A </a:t>
            </a:r>
            <a:r>
              <a:rPr lang="en-US" sz="1800" dirty="0" err="1">
                <a:latin typeface="Arial" charset="0"/>
              </a:rPr>
              <a:t>hálózat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elemei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Hálózati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átviteli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közegek</a:t>
            </a:r>
            <a:endParaRPr lang="en-US" dirty="0">
              <a:latin typeface="Arial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765" y="1657819"/>
            <a:ext cx="5448300" cy="458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A </a:t>
            </a:r>
            <a:r>
              <a:rPr lang="en-US" sz="1800" dirty="0" err="1">
                <a:latin typeface="Arial" charset="0"/>
              </a:rPr>
              <a:t>hálózat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elemei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 </a:t>
            </a:r>
            <a:r>
              <a:rPr lang="en-US" dirty="0" err="1">
                <a:latin typeface="Arial" charset="0"/>
              </a:rPr>
              <a:t>hálózatok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megjelenítése</a:t>
            </a:r>
            <a:endParaRPr lang="en-US" dirty="0">
              <a:latin typeface="Arial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-24477" r="-2447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95383915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A </a:t>
            </a:r>
            <a:r>
              <a:rPr lang="en-US" sz="1800" dirty="0" err="1">
                <a:latin typeface="Arial" charset="0"/>
              </a:rPr>
              <a:t>hálózat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elemei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Topológiai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ábrák</a:t>
            </a:r>
            <a:endParaRPr lang="en-US" dirty="0">
              <a:latin typeface="Arial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43" y="1387792"/>
            <a:ext cx="4237729" cy="32906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012" y="3288643"/>
            <a:ext cx="4280120" cy="3288894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LAN </a:t>
            </a:r>
            <a:r>
              <a:rPr lang="en-US" sz="1800" dirty="0" err="1">
                <a:latin typeface="Arial" charset="0"/>
              </a:rPr>
              <a:t>és</a:t>
            </a:r>
            <a:r>
              <a:rPr lang="en-US" sz="1800" dirty="0">
                <a:latin typeface="Arial" charset="0"/>
              </a:rPr>
              <a:t> WAN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Hálózattípusok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A két leggyakoribb hálózati </a:t>
            </a:r>
            <a:r>
              <a:rPr lang="hu-HU" sz="2000" dirty="0" err="1"/>
              <a:t>infrastruktúr</a:t>
            </a:r>
            <a:r>
              <a:rPr lang="en-US" sz="2000" dirty="0"/>
              <a:t>:</a:t>
            </a:r>
          </a:p>
          <a:p>
            <a:r>
              <a:rPr lang="en-US" sz="2000" dirty="0" err="1"/>
              <a:t>Helyi</a:t>
            </a:r>
            <a:r>
              <a:rPr lang="en-US" sz="2000" dirty="0"/>
              <a:t> </a:t>
            </a:r>
            <a:r>
              <a:rPr lang="en-US" sz="2000" dirty="0" err="1"/>
              <a:t>számítógép-hálózat</a:t>
            </a:r>
            <a:r>
              <a:rPr lang="en-US" sz="2000" dirty="0"/>
              <a:t> (LAN, Local Area Network) </a:t>
            </a:r>
            <a:endParaRPr lang="hu-HU" sz="2000" dirty="0"/>
          </a:p>
          <a:p>
            <a:r>
              <a:rPr lang="en-US" sz="2000" dirty="0" err="1"/>
              <a:t>Nagytávolságú</a:t>
            </a:r>
            <a:r>
              <a:rPr lang="en-US" sz="2000" dirty="0"/>
              <a:t> </a:t>
            </a:r>
            <a:r>
              <a:rPr lang="en-US" sz="2000" dirty="0" err="1"/>
              <a:t>hálózat</a:t>
            </a:r>
            <a:r>
              <a:rPr lang="en-US" sz="2000" dirty="0"/>
              <a:t> (WAN, Wide Area Network).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hu-HU" sz="2000" dirty="0"/>
              <a:t>Egyéb hálózati típusok: </a:t>
            </a:r>
          </a:p>
          <a:p>
            <a:r>
              <a:rPr lang="en-US" sz="2000" dirty="0" err="1"/>
              <a:t>Nagyvárosi</a:t>
            </a:r>
            <a:r>
              <a:rPr lang="en-US" sz="2000" dirty="0"/>
              <a:t> </a:t>
            </a:r>
            <a:r>
              <a:rPr lang="en-US" sz="2000" dirty="0" err="1"/>
              <a:t>hálózat</a:t>
            </a:r>
            <a:r>
              <a:rPr lang="en-US" sz="2000" dirty="0"/>
              <a:t> (MAN, Metropolitan Area Network)  </a:t>
            </a:r>
          </a:p>
          <a:p>
            <a:r>
              <a:rPr lang="en-US" sz="2000" dirty="0" err="1"/>
              <a:t>Vezetéknélküli</a:t>
            </a:r>
            <a:r>
              <a:rPr lang="en-US" sz="2000" dirty="0"/>
              <a:t> LAN (WLAN, Wireless LAN)</a:t>
            </a:r>
          </a:p>
          <a:p>
            <a:r>
              <a:rPr lang="en-US" sz="2000" dirty="0" err="1"/>
              <a:t>Adattároló</a:t>
            </a:r>
            <a:r>
              <a:rPr lang="en-US" sz="2000" dirty="0"/>
              <a:t> </a:t>
            </a:r>
            <a:r>
              <a:rPr lang="en-US" sz="2000" dirty="0" err="1"/>
              <a:t>hálózat</a:t>
            </a:r>
            <a:r>
              <a:rPr lang="en-US" sz="2000" dirty="0"/>
              <a:t> (SAN, Storage Area Network)</a:t>
            </a: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LAN </a:t>
            </a:r>
            <a:r>
              <a:rPr lang="en-US" sz="1800" dirty="0" err="1">
                <a:latin typeface="Arial" charset="0"/>
              </a:rPr>
              <a:t>és</a:t>
            </a:r>
            <a:r>
              <a:rPr lang="en-US" sz="1800" dirty="0">
                <a:latin typeface="Arial" charset="0"/>
              </a:rPr>
              <a:t> WAN</a:t>
            </a:r>
            <a:br>
              <a:rPr lang="en-US" dirty="0">
                <a:latin typeface="Arial" charset="0"/>
              </a:rPr>
            </a:br>
            <a:r>
              <a:rPr lang="hu-HU" dirty="0">
                <a:latin typeface="Arial" charset="0"/>
              </a:rPr>
              <a:t>Helyi hálózatok</a:t>
            </a:r>
            <a:endParaRPr lang="en-US" dirty="0">
              <a:latin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78" y="1551205"/>
            <a:ext cx="5786520" cy="482380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LAN </a:t>
            </a:r>
            <a:r>
              <a:rPr lang="en-US" sz="1800" dirty="0" err="1">
                <a:latin typeface="Arial" charset="0"/>
              </a:rPr>
              <a:t>és</a:t>
            </a:r>
            <a:r>
              <a:rPr lang="en-US" sz="1800" dirty="0">
                <a:latin typeface="Arial" charset="0"/>
              </a:rPr>
              <a:t> WAN</a:t>
            </a:r>
            <a:br>
              <a:rPr lang="en-US" dirty="0">
                <a:latin typeface="Arial" charset="0"/>
              </a:rPr>
            </a:br>
            <a:r>
              <a:rPr lang="hu-HU" dirty="0">
                <a:latin typeface="Arial" charset="0"/>
              </a:rPr>
              <a:t>Nagytávolságú hálózatok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565592"/>
            <a:ext cx="8570913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sz="1800" dirty="0">
                <a:latin typeface="Arial" charset="0"/>
              </a:rPr>
              <a:t>LAN, WAN </a:t>
            </a:r>
            <a:r>
              <a:rPr lang="de-DE" sz="1800" dirty="0" err="1">
                <a:latin typeface="Arial" charset="0"/>
              </a:rPr>
              <a:t>és</a:t>
            </a:r>
            <a:r>
              <a:rPr lang="de-DE" sz="1800" dirty="0">
                <a:latin typeface="Arial" charset="0"/>
              </a:rPr>
              <a:t> </a:t>
            </a:r>
            <a:r>
              <a:rPr lang="de-DE" sz="1800" dirty="0" err="1">
                <a:latin typeface="Arial" charset="0"/>
              </a:rPr>
              <a:t>az</a:t>
            </a:r>
            <a:r>
              <a:rPr lang="de-DE" sz="1800" dirty="0">
                <a:latin typeface="Arial" charset="0"/>
              </a:rPr>
              <a:t> </a:t>
            </a:r>
            <a:r>
              <a:rPr lang="de-DE" sz="1800" dirty="0" err="1">
                <a:latin typeface="Arial" charset="0"/>
              </a:rPr>
              <a:t>internet</a:t>
            </a:r>
            <a:br>
              <a:rPr lang="en-US" dirty="0">
                <a:latin typeface="Arial" charset="0"/>
              </a:rPr>
            </a:br>
            <a:r>
              <a:rPr lang="hu-HU" dirty="0">
                <a:latin typeface="Arial" charset="0"/>
              </a:rPr>
              <a:t>Az internet</a:t>
            </a:r>
            <a:endParaRPr lang="en-US" dirty="0">
              <a:latin typeface="Arial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1551023"/>
            <a:ext cx="5903068" cy="471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sz="1600" dirty="0">
                <a:latin typeface="Arial" charset="0"/>
              </a:rPr>
              <a:t>LAN, WAN </a:t>
            </a:r>
            <a:r>
              <a:rPr lang="de-DE" sz="1600" dirty="0" err="1">
                <a:latin typeface="Arial" charset="0"/>
              </a:rPr>
              <a:t>és</a:t>
            </a:r>
            <a:r>
              <a:rPr lang="de-DE" sz="1600" dirty="0">
                <a:latin typeface="Arial" charset="0"/>
              </a:rPr>
              <a:t> </a:t>
            </a:r>
            <a:r>
              <a:rPr lang="de-DE" sz="1600" dirty="0" err="1">
                <a:latin typeface="Arial" charset="0"/>
              </a:rPr>
              <a:t>az</a:t>
            </a:r>
            <a:r>
              <a:rPr lang="de-DE" sz="1600" dirty="0">
                <a:latin typeface="Arial" charset="0"/>
              </a:rPr>
              <a:t> </a:t>
            </a:r>
            <a:r>
              <a:rPr lang="de-DE" sz="1600" dirty="0" err="1">
                <a:latin typeface="Arial" charset="0"/>
              </a:rPr>
              <a:t>internet</a:t>
            </a:r>
            <a:r>
              <a:rPr lang="de-DE" sz="1600" dirty="0">
                <a:latin typeface="Arial" charset="0"/>
              </a:rPr>
              <a:t> </a:t>
            </a:r>
            <a:br>
              <a:rPr lang="hu-HU" sz="1600" dirty="0">
                <a:latin typeface="Arial" charset="0"/>
              </a:rPr>
            </a:br>
            <a:r>
              <a:rPr lang="en-US" dirty="0">
                <a:latin typeface="Arial" charset="0"/>
              </a:rPr>
              <a:t>Intranet </a:t>
            </a:r>
            <a:r>
              <a:rPr lang="hu-HU" dirty="0">
                <a:latin typeface="Arial" charset="0"/>
              </a:rPr>
              <a:t>és e</a:t>
            </a:r>
            <a:r>
              <a:rPr lang="en-US" dirty="0" err="1">
                <a:latin typeface="Arial" charset="0"/>
              </a:rPr>
              <a:t>xtranet</a:t>
            </a:r>
            <a:endParaRPr lang="en-US" dirty="0">
              <a:latin typeface="Arial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571907"/>
            <a:ext cx="5029200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Laborgyakorlat: 1.2.3.3</a:t>
            </a:r>
            <a:br>
              <a:rPr lang="en-US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hu-HU" b="1" dirty="0"/>
              <a:t>Konvergált hálózati szolgáltatások megismerése</a:t>
            </a:r>
          </a:p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26618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Csatlakozás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az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internethez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Távoli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felhasználók</a:t>
            </a:r>
            <a:r>
              <a:rPr lang="en-US" dirty="0">
                <a:latin typeface="Arial" charset="0"/>
              </a:rPr>
              <a:t> internet </a:t>
            </a:r>
            <a:r>
              <a:rPr lang="en-US" dirty="0" err="1">
                <a:latin typeface="Arial" charset="0"/>
              </a:rPr>
              <a:t>csatlakozása</a:t>
            </a:r>
            <a:endParaRPr lang="en-US" dirty="0">
              <a:latin typeface="Arial" charset="0"/>
            </a:endParaRPr>
          </a:p>
        </p:txBody>
      </p:sp>
      <p:pic>
        <p:nvPicPr>
          <p:cNvPr id="32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-23219" r="-23219"/>
          <a:stretch>
            <a:fillRect/>
          </a:stretch>
        </p:blipFill>
        <p:spPr/>
      </p:pic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Csatlakozás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az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internethez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Vállalatok</a:t>
            </a:r>
            <a:r>
              <a:rPr lang="en-US" dirty="0">
                <a:latin typeface="Arial" charset="0"/>
              </a:rPr>
              <a:t> internet </a:t>
            </a:r>
            <a:r>
              <a:rPr lang="en-US" dirty="0" err="1">
                <a:latin typeface="Arial" charset="0"/>
              </a:rPr>
              <a:t>csatlakozása</a:t>
            </a:r>
            <a:endParaRPr lang="en-US" dirty="0">
              <a:latin typeface="Arial" charset="0"/>
            </a:endParaRPr>
          </a:p>
        </p:txBody>
      </p:sp>
      <p:pic>
        <p:nvPicPr>
          <p:cNvPr id="26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-7069" r="-7069"/>
          <a:stretch>
            <a:fillRect/>
          </a:stretch>
        </p:blipFill>
        <p:spPr/>
      </p:pic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4. óra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003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5837" y="2263775"/>
            <a:ext cx="4339280" cy="1481138"/>
          </a:xfrm>
        </p:spPr>
        <p:txBody>
          <a:bodyPr/>
          <a:lstStyle/>
          <a:p>
            <a:pPr eaLnBrk="1" hangingPunct="1"/>
            <a:r>
              <a:rPr lang="en-US" sz="2300" dirty="0"/>
              <a:t>1.3  A </a:t>
            </a:r>
            <a:r>
              <a:rPr lang="en-US" sz="2300" dirty="0" err="1"/>
              <a:t>hálózat</a:t>
            </a:r>
            <a:r>
              <a:rPr lang="en-US" sz="2300" dirty="0"/>
              <a:t> mint </a:t>
            </a:r>
            <a:r>
              <a:rPr lang="en-US" sz="2300" dirty="0" err="1"/>
              <a:t>felület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1716293546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err="1">
                <a:latin typeface="Arial" charset="0"/>
              </a:rPr>
              <a:t>Konvergált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hálózatok</a:t>
            </a:r>
            <a:br>
              <a:rPr lang="en-US" dirty="0">
                <a:latin typeface="Arial" charset="0"/>
              </a:rPr>
            </a:br>
            <a:r>
              <a:rPr lang="hu-HU" b="0" dirty="0"/>
              <a:t>A konvergáló hálózat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-1127" t="926" r="-2206" b="-2778"/>
          <a:stretch/>
        </p:blipFill>
        <p:spPr>
          <a:xfrm>
            <a:off x="327131" y="1539502"/>
            <a:ext cx="3771614" cy="317522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256" y="3213709"/>
            <a:ext cx="3658958" cy="3160915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Konvergált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hálózatok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 </a:t>
            </a:r>
            <a:r>
              <a:rPr lang="en-US" dirty="0" err="1">
                <a:latin typeface="Arial" charset="0"/>
              </a:rPr>
              <a:t>jövő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tervezése</a:t>
            </a:r>
            <a:endParaRPr lang="en-US" dirty="0">
              <a:latin typeface="Arial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-18756" r="-18756"/>
          <a:stretch>
            <a:fillRect/>
          </a:stretch>
        </p:blipFill>
        <p:spPr/>
      </p:pic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Laborgyakorlat: 1.3.1.3</a:t>
            </a:r>
            <a:br>
              <a:rPr lang="en-US" dirty="0"/>
            </a:b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hu-HU" dirty="0"/>
              <a:t>Az internet feltérképezése</a:t>
            </a:r>
          </a:p>
        </p:txBody>
      </p:sp>
    </p:spTree>
    <p:extLst>
      <p:ext uri="{BB962C8B-B14F-4D97-AF65-F5344CB8AC3E}">
        <p14:creationId xmlns:p14="http://schemas.microsoft.com/office/powerpoint/2010/main" val="1203193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Megbízható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A </a:t>
            </a:r>
            <a:r>
              <a:rPr lang="en-US" dirty="0" err="1">
                <a:latin typeface="Arial" charset="0"/>
              </a:rPr>
              <a:t>hálózati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architektúra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A hálózatok fejlődésével arra a négy alapvető hálózati jellemzőre is fény derült, amelyekkel a háttérben működő hálózati architektúrának foglalkoznia kell, hogy a hálózat meg tudjon felelni a felhasználói elvárásoknak:</a:t>
            </a:r>
          </a:p>
          <a:p>
            <a:r>
              <a:rPr lang="hu-HU" sz="2000" dirty="0"/>
              <a:t>hibatűrés</a:t>
            </a:r>
          </a:p>
          <a:p>
            <a:r>
              <a:rPr lang="hu-HU" sz="2000" dirty="0"/>
              <a:t>skálázhatóság</a:t>
            </a:r>
          </a:p>
          <a:p>
            <a:r>
              <a:rPr lang="hu-HU" sz="2000" dirty="0"/>
              <a:t>a szolgáltatás minősége (</a:t>
            </a:r>
            <a:r>
              <a:rPr lang="hu-HU" sz="2000" dirty="0" err="1"/>
              <a:t>Quality</a:t>
            </a:r>
            <a:r>
              <a:rPr lang="hu-HU" sz="2000" dirty="0"/>
              <a:t> of Service, </a:t>
            </a:r>
            <a:r>
              <a:rPr lang="hu-HU" sz="2000" dirty="0" err="1"/>
              <a:t>QoS</a:t>
            </a:r>
            <a:r>
              <a:rPr lang="hu-HU" sz="2000" dirty="0"/>
              <a:t>)</a:t>
            </a:r>
          </a:p>
          <a:p>
            <a:r>
              <a:rPr lang="hu-HU" sz="2000" dirty="0"/>
              <a:t>biztonság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Megbízható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</a:t>
            </a:r>
            <a:br>
              <a:rPr lang="en-US" dirty="0">
                <a:latin typeface="Arial" charset="0"/>
              </a:rPr>
            </a:br>
            <a:r>
              <a:rPr lang="hu-HU" dirty="0">
                <a:latin typeface="Arial" charset="0"/>
              </a:rPr>
              <a:t>Hibatűrés vonalkapcsolt hálózatokban</a:t>
            </a:r>
            <a:endParaRPr lang="en-US" dirty="0">
              <a:latin typeface="Arial" charset="0"/>
            </a:endParaRPr>
          </a:p>
        </p:txBody>
      </p:sp>
      <p:pic>
        <p:nvPicPr>
          <p:cNvPr id="6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-24196" r="-24196"/>
          <a:stretch>
            <a:fillRect/>
          </a:stretch>
        </p:blipFill>
        <p:spPr>
          <a:xfrm>
            <a:off x="213109" y="1539502"/>
            <a:ext cx="8733677" cy="4926405"/>
          </a:xfrm>
        </p:spPr>
      </p:pic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Megbízható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Csomagkapcsolt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hálózatok</a:t>
            </a:r>
            <a:endParaRPr lang="en-US" dirty="0">
              <a:latin typeface="Arial" charset="0"/>
            </a:endParaRPr>
          </a:p>
        </p:txBody>
      </p:sp>
      <p:pic>
        <p:nvPicPr>
          <p:cNvPr id="4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-24672" r="-2467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00978167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Megbízható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Skálázható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hálózatok</a:t>
            </a:r>
            <a:endParaRPr lang="en-US" dirty="0">
              <a:latin typeface="Arial" charset="0"/>
            </a:endParaRPr>
          </a:p>
        </p:txBody>
      </p:sp>
      <p:pic>
        <p:nvPicPr>
          <p:cNvPr id="4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-19860" t="11328" r="-19860"/>
          <a:stretch/>
        </p:blipFill>
        <p:spPr>
          <a:xfrm>
            <a:off x="849131" y="2876944"/>
            <a:ext cx="7444791" cy="3723672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53" y="1155953"/>
            <a:ext cx="5404597" cy="6058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7660" y="1791028"/>
            <a:ext cx="5311050" cy="1067880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Megbízható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QoS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biztosítása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A prioritások felállításakor a következőkre érdemes figyelni:</a:t>
            </a:r>
          </a:p>
          <a:p>
            <a:r>
              <a:rPr lang="hu-HU" sz="2000" dirty="0"/>
              <a:t>Időérzékeny kommunikáció - A kiemelt szolgáltatások prioritásának növelése (például hang vagy videó továbbítása esetén).</a:t>
            </a:r>
          </a:p>
          <a:p>
            <a:r>
              <a:rPr lang="hu-HU" sz="2000" dirty="0"/>
              <a:t>Nem időérzékeny kommunikáció - Csökkentsük a prioritásokat olyan esetekben, mint a weboldalak böngészése vagy az e-mail kommunikáció.</a:t>
            </a:r>
          </a:p>
          <a:p>
            <a:r>
              <a:rPr lang="hu-HU" sz="2000" dirty="0"/>
              <a:t>Rendkívül fontos a szervezet részére - Növeljük a prioritásokat a termelés szabályozásához, illetve az üzleti tranzakciókhoz szükséges forgalmak esetén.</a:t>
            </a:r>
          </a:p>
          <a:p>
            <a:r>
              <a:rPr lang="hu-HU" sz="2000" dirty="0"/>
              <a:t>Nemkívánatos kommunikáció - Csökkentsük a prioritását a különböző kéretlen alkalmazásoknak, mint például a </a:t>
            </a:r>
            <a:r>
              <a:rPr lang="hu-HU" sz="2000" dirty="0" err="1"/>
              <a:t>peer-to-peer</a:t>
            </a:r>
            <a:r>
              <a:rPr lang="hu-HU" sz="2000" dirty="0"/>
              <a:t> fájlcserélő vagy valósidejű szórakoztató alkalmazások adatai.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Megbízható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Hálózatbiztonság</a:t>
            </a:r>
            <a:endParaRPr lang="en-US" dirty="0">
              <a:latin typeface="Arial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0540" y="1808834"/>
            <a:ext cx="6453572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dirty="0"/>
              <a:t>5. óra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26928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5836" y="2263775"/>
            <a:ext cx="4358524" cy="1481138"/>
          </a:xfrm>
        </p:spPr>
        <p:txBody>
          <a:bodyPr/>
          <a:lstStyle/>
          <a:p>
            <a:pPr eaLnBrk="1" hangingPunct="1"/>
            <a:r>
              <a:rPr lang="en-US" sz="1800" dirty="0"/>
              <a:t>1.4  A </a:t>
            </a:r>
            <a:r>
              <a:rPr lang="en-US" sz="1800" dirty="0" err="1"/>
              <a:t>válltozó</a:t>
            </a:r>
            <a:r>
              <a:rPr lang="en-US" sz="1800" dirty="0"/>
              <a:t> </a:t>
            </a:r>
            <a:r>
              <a:rPr lang="en-US" sz="1800" dirty="0" err="1"/>
              <a:t>hálózati</a:t>
            </a:r>
            <a:r>
              <a:rPr lang="en-US" sz="1800" dirty="0"/>
              <a:t> </a:t>
            </a:r>
            <a:r>
              <a:rPr lang="en-US" sz="1800" dirty="0" err="1"/>
              <a:t>környezet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61279201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trendek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Új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trendek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Néhány a legismertebb trendek közül:</a:t>
            </a:r>
          </a:p>
          <a:p>
            <a:r>
              <a:rPr lang="hu-HU" sz="2000" dirty="0"/>
              <a:t>minden eszközhöz, minden tartalomhoz és mindenhogy csatlakozhatunk,</a:t>
            </a:r>
          </a:p>
          <a:p>
            <a:r>
              <a:rPr lang="hu-HU" sz="2000" dirty="0"/>
              <a:t>online csoportmunka,</a:t>
            </a:r>
          </a:p>
          <a:p>
            <a:r>
              <a:rPr lang="hu-HU" sz="2000" dirty="0"/>
              <a:t>videó,</a:t>
            </a:r>
          </a:p>
          <a:p>
            <a:r>
              <a:rPr lang="hu-HU" sz="2000" dirty="0"/>
              <a:t>felhő alapú számítástechnika (Felhő alapú szolgáltatások).</a:t>
            </a:r>
          </a:p>
          <a:p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>
          <a:xfrm>
            <a:off x="193868" y="767614"/>
            <a:ext cx="8772157" cy="838200"/>
          </a:xfrm>
        </p:spPr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trendek</a:t>
            </a:r>
            <a:br>
              <a:rPr lang="en-US" dirty="0">
                <a:latin typeface="Arial" charset="0"/>
              </a:rPr>
            </a:br>
            <a:r>
              <a:rPr lang="en-US" b="0" dirty="0"/>
              <a:t>"</a:t>
            </a:r>
            <a:r>
              <a:rPr lang="en-US" b="0" dirty="0" err="1"/>
              <a:t>Hozd</a:t>
            </a:r>
            <a:r>
              <a:rPr lang="en-US" b="0" dirty="0"/>
              <a:t> a </a:t>
            </a:r>
            <a:r>
              <a:rPr lang="en-US" b="0" dirty="0" err="1"/>
              <a:t>saját</a:t>
            </a:r>
            <a:r>
              <a:rPr lang="en-US" b="0" dirty="0"/>
              <a:t> </a:t>
            </a:r>
            <a:r>
              <a:rPr lang="en-US" b="0" dirty="0" err="1"/>
              <a:t>eszközödet</a:t>
            </a:r>
            <a:r>
              <a:rPr lang="en-US" b="0" dirty="0"/>
              <a:t>" (Bring Your Own Device, BYOD)</a:t>
            </a:r>
            <a:endParaRPr lang="en-US" dirty="0">
              <a:latin typeface="Arial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1705460"/>
            <a:ext cx="5019675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2209" y="5401222"/>
            <a:ext cx="829370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 "</a:t>
            </a:r>
            <a:r>
              <a:rPr lang="en-US" sz="2000" dirty="0" err="1"/>
              <a:t>minden</a:t>
            </a:r>
            <a:r>
              <a:rPr lang="en-US" sz="2000" dirty="0"/>
              <a:t> </a:t>
            </a:r>
            <a:r>
              <a:rPr lang="en-US" sz="2000" dirty="0" err="1"/>
              <a:t>eszközhöz</a:t>
            </a:r>
            <a:r>
              <a:rPr lang="en-US" sz="2000" dirty="0"/>
              <a:t>, </a:t>
            </a:r>
            <a:r>
              <a:rPr lang="en-US" sz="2000" dirty="0" err="1"/>
              <a:t>minden</a:t>
            </a:r>
            <a:r>
              <a:rPr lang="en-US" sz="2000" dirty="0"/>
              <a:t> </a:t>
            </a:r>
            <a:r>
              <a:rPr lang="en-US" sz="2000" dirty="0" err="1"/>
              <a:t>tartalomhoz</a:t>
            </a:r>
            <a:r>
              <a:rPr lang="en-US" sz="2000" dirty="0"/>
              <a:t> </a:t>
            </a:r>
            <a:r>
              <a:rPr lang="en-US" sz="2000" dirty="0" err="1"/>
              <a:t>és</a:t>
            </a:r>
            <a:r>
              <a:rPr lang="en-US" sz="2000" dirty="0"/>
              <a:t> </a:t>
            </a:r>
            <a:r>
              <a:rPr lang="en-US" sz="2000" dirty="0" err="1"/>
              <a:t>mindenhogy</a:t>
            </a:r>
            <a:r>
              <a:rPr lang="en-US" sz="2000" dirty="0"/>
              <a:t> </a:t>
            </a:r>
            <a:r>
              <a:rPr lang="en-US" sz="2000" dirty="0" err="1"/>
              <a:t>csatlakozhatunk</a:t>
            </a:r>
            <a:r>
              <a:rPr lang="en-US" sz="2000" dirty="0"/>
              <a:t>" </a:t>
            </a:r>
            <a:r>
              <a:rPr lang="en-US" sz="2000" dirty="0" err="1"/>
              <a:t>koncepció</a:t>
            </a:r>
            <a:r>
              <a:rPr lang="en-US" sz="2000" dirty="0"/>
              <a:t> </a:t>
            </a:r>
            <a:r>
              <a:rPr lang="en-US" sz="2000" dirty="0" err="1"/>
              <a:t>egy</a:t>
            </a:r>
            <a:r>
              <a:rPr lang="en-US" sz="2000" dirty="0"/>
              <a:t> </a:t>
            </a:r>
            <a:r>
              <a:rPr lang="en-US" sz="2000" dirty="0" err="1"/>
              <a:t>fontos</a:t>
            </a:r>
            <a:r>
              <a:rPr lang="en-US" sz="2000" dirty="0"/>
              <a:t> </a:t>
            </a:r>
            <a:r>
              <a:rPr lang="en-US" sz="2000" dirty="0" err="1"/>
              <a:t>globális</a:t>
            </a:r>
            <a:r>
              <a:rPr lang="en-US" sz="2000" dirty="0"/>
              <a:t> trend, </a:t>
            </a:r>
            <a:r>
              <a:rPr lang="en-US" sz="2000" dirty="0" err="1"/>
              <a:t>amely</a:t>
            </a:r>
            <a:r>
              <a:rPr lang="en-US" sz="2000" dirty="0"/>
              <a:t> </a:t>
            </a:r>
            <a:r>
              <a:rPr lang="en-US" sz="2000" dirty="0" err="1"/>
              <a:t>jelentős</a:t>
            </a:r>
            <a:r>
              <a:rPr lang="en-US" sz="2000" dirty="0"/>
              <a:t> </a:t>
            </a:r>
            <a:r>
              <a:rPr lang="en-US" sz="2000" dirty="0" err="1"/>
              <a:t>változásokat</a:t>
            </a:r>
            <a:r>
              <a:rPr lang="en-US" sz="2000" dirty="0"/>
              <a:t> </a:t>
            </a:r>
            <a:r>
              <a:rPr lang="en-US" sz="2000" dirty="0" err="1"/>
              <a:t>követel</a:t>
            </a:r>
            <a:r>
              <a:rPr lang="en-US" sz="2000" dirty="0"/>
              <a:t> meg </a:t>
            </a:r>
            <a:r>
              <a:rPr lang="en-US" sz="2000" dirty="0" err="1"/>
              <a:t>abban</a:t>
            </a:r>
            <a:r>
              <a:rPr lang="en-US" sz="2000" dirty="0"/>
              <a:t>, </a:t>
            </a:r>
            <a:r>
              <a:rPr lang="en-US" sz="2000" dirty="0" err="1"/>
              <a:t>ahogy</a:t>
            </a:r>
            <a:r>
              <a:rPr lang="en-US" sz="2000" dirty="0"/>
              <a:t> </a:t>
            </a:r>
            <a:r>
              <a:rPr lang="en-US" sz="2000" dirty="0" err="1"/>
              <a:t>az</a:t>
            </a:r>
            <a:r>
              <a:rPr lang="en-US" sz="2000" dirty="0"/>
              <a:t> </a:t>
            </a:r>
            <a:r>
              <a:rPr lang="en-US" sz="2000" dirty="0" err="1"/>
              <a:t>eszközeinket</a:t>
            </a:r>
            <a:r>
              <a:rPr lang="en-US" sz="2000" dirty="0"/>
              <a:t> </a:t>
            </a:r>
            <a:r>
              <a:rPr lang="en-US" sz="2000" dirty="0" err="1"/>
              <a:t>használjuk</a:t>
            </a:r>
            <a:r>
              <a:rPr lang="en-US" sz="2000" dirty="0"/>
              <a:t>. </a:t>
            </a:r>
            <a:endParaRPr lang="hu-HU" sz="2000" dirty="0"/>
          </a:p>
          <a:p>
            <a:r>
              <a:rPr lang="en-US" sz="2000" dirty="0" err="1"/>
              <a:t>Ez</a:t>
            </a:r>
            <a:r>
              <a:rPr lang="en-US" sz="2000" dirty="0"/>
              <a:t> a trend </a:t>
            </a:r>
            <a:r>
              <a:rPr lang="en-US" sz="2000" dirty="0" err="1"/>
              <a:t>az</a:t>
            </a:r>
            <a:r>
              <a:rPr lang="en-US" sz="2000" dirty="0"/>
              <a:t> </a:t>
            </a:r>
            <a:r>
              <a:rPr lang="en-US" sz="2000" dirty="0" err="1"/>
              <a:t>úgynevezett</a:t>
            </a:r>
            <a:r>
              <a:rPr lang="en-US" sz="2000" dirty="0"/>
              <a:t> "</a:t>
            </a:r>
            <a:r>
              <a:rPr lang="en-US" sz="2000" dirty="0" err="1"/>
              <a:t>Hozd</a:t>
            </a:r>
            <a:r>
              <a:rPr lang="en-US" sz="2000" dirty="0"/>
              <a:t> a </a:t>
            </a:r>
            <a:r>
              <a:rPr lang="en-US" sz="2000" dirty="0" err="1"/>
              <a:t>saját</a:t>
            </a:r>
            <a:r>
              <a:rPr lang="en-US" sz="2000" dirty="0"/>
              <a:t> </a:t>
            </a:r>
            <a:r>
              <a:rPr lang="en-US" sz="2000" dirty="0" err="1"/>
              <a:t>eszközödet</a:t>
            </a:r>
            <a:r>
              <a:rPr lang="en-US" sz="2000" dirty="0"/>
              <a:t>" (Bring Your Own Device, BYOD).</a:t>
            </a:r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trendek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Online </a:t>
            </a:r>
            <a:r>
              <a:rPr lang="en-US" dirty="0" err="1">
                <a:latin typeface="Arial" charset="0"/>
              </a:rPr>
              <a:t>csoportmunka</a:t>
            </a:r>
            <a:endParaRPr lang="en-US" dirty="0">
              <a:latin typeface="Arial" charset="0"/>
            </a:endParaRPr>
          </a:p>
        </p:txBody>
      </p:sp>
      <p:pic>
        <p:nvPicPr>
          <p:cNvPr id="6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-18927" r="-18927"/>
          <a:stretch>
            <a:fillRect/>
          </a:stretch>
        </p:blipFill>
        <p:spPr/>
      </p:pic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trendek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Videó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kommunikáció</a:t>
            </a:r>
            <a:endParaRPr lang="en-US" dirty="0">
              <a:latin typeface="Arial" charset="0"/>
            </a:endParaRPr>
          </a:p>
        </p:txBody>
      </p:sp>
      <p:pic>
        <p:nvPicPr>
          <p:cNvPr id="4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rcRect l="-9305" r="-9305"/>
          <a:stretch>
            <a:fillRect/>
          </a:stretch>
        </p:blipFill>
        <p:spPr/>
      </p:pic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trendek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Felhő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alapú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szolgáltatások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A felhő alapú szolgáltatások a következő előnyöket nyújthatják:</a:t>
            </a:r>
            <a:endParaRPr lang="en-US" sz="2000" dirty="0"/>
          </a:p>
          <a:p>
            <a:r>
              <a:rPr lang="en-US" sz="2000" dirty="0" err="1"/>
              <a:t>Szervezeti</a:t>
            </a:r>
            <a:r>
              <a:rPr lang="en-US" sz="2000" dirty="0"/>
              <a:t> </a:t>
            </a:r>
            <a:r>
              <a:rPr lang="en-US" sz="2000" dirty="0" err="1"/>
              <a:t>rugalmasság</a:t>
            </a:r>
            <a:endParaRPr lang="hu-HU" sz="2000" dirty="0"/>
          </a:p>
          <a:p>
            <a:r>
              <a:rPr lang="en-US" sz="2000" dirty="0" err="1"/>
              <a:t>Agilitás</a:t>
            </a:r>
            <a:r>
              <a:rPr lang="en-US" sz="2000" dirty="0"/>
              <a:t> </a:t>
            </a:r>
            <a:r>
              <a:rPr lang="en-US" sz="2000" dirty="0" err="1"/>
              <a:t>és</a:t>
            </a:r>
            <a:r>
              <a:rPr lang="en-US" sz="2000" dirty="0"/>
              <a:t> </a:t>
            </a:r>
            <a:r>
              <a:rPr lang="en-US" sz="2000" dirty="0" err="1"/>
              <a:t>gyors</a:t>
            </a:r>
            <a:r>
              <a:rPr lang="en-US" sz="2000" dirty="0"/>
              <a:t> </a:t>
            </a:r>
            <a:r>
              <a:rPr lang="en-US" sz="2000" dirty="0" err="1"/>
              <a:t>megvalósítás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Kisebb</a:t>
            </a:r>
            <a:r>
              <a:rPr lang="en-US" sz="2000" dirty="0"/>
              <a:t> </a:t>
            </a:r>
            <a:r>
              <a:rPr lang="en-US" sz="2000" dirty="0" err="1"/>
              <a:t>infrastruktúra</a:t>
            </a:r>
            <a:r>
              <a:rPr lang="en-US" sz="2000" dirty="0"/>
              <a:t> </a:t>
            </a:r>
            <a:r>
              <a:rPr lang="en-US" sz="2000" dirty="0" err="1"/>
              <a:t>költségek</a:t>
            </a:r>
            <a:endParaRPr lang="hu-HU" sz="2000" dirty="0"/>
          </a:p>
          <a:p>
            <a:r>
              <a:rPr lang="en-US" sz="2000" dirty="0" err="1"/>
              <a:t>Az</a:t>
            </a:r>
            <a:r>
              <a:rPr lang="en-US" sz="2000" dirty="0"/>
              <a:t> IT-</a:t>
            </a:r>
            <a:r>
              <a:rPr lang="en-US" sz="2000" dirty="0" err="1"/>
              <a:t>erőforrások</a:t>
            </a:r>
            <a:r>
              <a:rPr lang="en-US" sz="2000" dirty="0"/>
              <a:t> </a:t>
            </a:r>
            <a:r>
              <a:rPr lang="en-US" sz="2000" dirty="0" err="1"/>
              <a:t>átcsoportosítása</a:t>
            </a:r>
            <a:endParaRPr lang="hu-HU" sz="2000" dirty="0"/>
          </a:p>
          <a:p>
            <a:r>
              <a:rPr lang="en-US" sz="2000" dirty="0" err="1"/>
              <a:t>Új</a:t>
            </a:r>
            <a:r>
              <a:rPr lang="en-US" sz="2000" dirty="0"/>
              <a:t> </a:t>
            </a:r>
            <a:r>
              <a:rPr lang="en-US" sz="2000" dirty="0" err="1"/>
              <a:t>üzleti</a:t>
            </a:r>
            <a:r>
              <a:rPr lang="en-US" sz="2000" dirty="0"/>
              <a:t> </a:t>
            </a:r>
            <a:r>
              <a:rPr lang="en-US" sz="2000" dirty="0" err="1"/>
              <a:t>modellek</a:t>
            </a:r>
            <a:r>
              <a:rPr lang="en-US" sz="2000" dirty="0"/>
              <a:t> </a:t>
            </a:r>
            <a:r>
              <a:rPr lang="en-US" sz="2000" dirty="0" err="1"/>
              <a:t>létrehozása</a:t>
            </a:r>
            <a:endParaRPr 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618" y="3210386"/>
            <a:ext cx="485775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trendek</a:t>
            </a:r>
            <a:br>
              <a:rPr lang="en-US" dirty="0">
                <a:latin typeface="Arial" charset="0"/>
              </a:rPr>
            </a:br>
            <a:r>
              <a:rPr lang="hu-HU" b="0" dirty="0"/>
              <a:t>Adatközpontok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Az adatközpont egy olyan létesítmény, amely fogadja a számítógépes rendszereket és a következő kapcsolódó elemeket:</a:t>
            </a:r>
          </a:p>
          <a:p>
            <a:r>
              <a:rPr lang="hu-HU" sz="2000" dirty="0"/>
              <a:t>Redundáns adatkommunikációs kapcsolatok</a:t>
            </a:r>
          </a:p>
          <a:p>
            <a:r>
              <a:rPr lang="hu-HU" sz="2000" dirty="0"/>
              <a:t>Nagy sebességű virtuális szerverek (néha ezt szerverfarmoknak, vagy szerver-klasztereknek hívják)</a:t>
            </a:r>
          </a:p>
          <a:p>
            <a:r>
              <a:rPr lang="hu-HU" sz="2000" dirty="0"/>
              <a:t>Redundáns </a:t>
            </a:r>
            <a:r>
              <a:rPr lang="hu-HU" sz="2000" dirty="0" err="1"/>
              <a:t>tárolórendszerek</a:t>
            </a:r>
            <a:r>
              <a:rPr lang="hu-HU" sz="2000" dirty="0"/>
              <a:t> (általában SAN technológiát használnak)</a:t>
            </a:r>
          </a:p>
          <a:p>
            <a:r>
              <a:rPr lang="hu-HU" sz="2000" dirty="0"/>
              <a:t>Redundáns vagy tartalék tápegységek</a:t>
            </a:r>
          </a:p>
          <a:p>
            <a:r>
              <a:rPr lang="hu-HU" sz="2000" dirty="0"/>
              <a:t>Környezeti hatások elleni védelem (pl. klíma, tűzoltó rendszer)</a:t>
            </a:r>
          </a:p>
          <a:p>
            <a:r>
              <a:rPr lang="hu-HU" sz="2000" dirty="0"/>
              <a:t>Biztonsági berendezések</a:t>
            </a:r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technológiák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otthoni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használatra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Technológiai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trendek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az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otthonunkban</a:t>
            </a:r>
            <a:endParaRPr lang="en-US" dirty="0">
              <a:latin typeface="Arial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-25121" r="-2512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021010368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technológiák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otthoni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használatra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Hálózat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az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elektromos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hálózaton</a:t>
            </a:r>
            <a:endParaRPr lang="en-US" dirty="0">
              <a:latin typeface="Arial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-11824" r="-118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27177556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technológiák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otthoni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használatra</a:t>
            </a:r>
            <a:br>
              <a:rPr lang="en-US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Vezeték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nélküli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szélessávú</a:t>
            </a:r>
            <a:r>
              <a:rPr lang="en-US" dirty="0">
                <a:latin typeface="Arial" charset="0"/>
              </a:rPr>
              <a:t> </a:t>
            </a:r>
            <a:r>
              <a:rPr lang="en-US" dirty="0" err="1">
                <a:latin typeface="Arial" charset="0"/>
              </a:rPr>
              <a:t>hozzáférés</a:t>
            </a:r>
            <a:endParaRPr lang="en-US" dirty="0">
              <a:latin typeface="Arial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rcRect l="-25718" r="-2571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64771469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biztonság</a:t>
            </a:r>
            <a:br>
              <a:rPr lang="en-US" dirty="0">
                <a:latin typeface="Arial" charset="0"/>
              </a:rPr>
            </a:br>
            <a:r>
              <a:rPr lang="hu-HU" b="0" dirty="0"/>
              <a:t>A biztonsági fenyegetések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1824125"/>
            <a:ext cx="7000875" cy="4171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biztonság</a:t>
            </a:r>
            <a:br>
              <a:rPr lang="en-US" dirty="0">
                <a:latin typeface="Arial" charset="0"/>
              </a:rPr>
            </a:br>
            <a:r>
              <a:rPr lang="hu-HU" b="0" dirty="0"/>
              <a:t>A biztonsági fenyegetések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A leggyakoribb külső hálózati fenyegetések a következők:</a:t>
            </a:r>
          </a:p>
          <a:p>
            <a:r>
              <a:rPr lang="hu-HU" sz="2000" dirty="0"/>
              <a:t>Vírusok, férgek és trójai lovak</a:t>
            </a:r>
          </a:p>
          <a:p>
            <a:r>
              <a:rPr lang="hu-HU" sz="2000" dirty="0"/>
              <a:t>Kémprogram- és reklámprogram (</a:t>
            </a:r>
            <a:r>
              <a:rPr lang="hu-HU" sz="2000" dirty="0" err="1"/>
              <a:t>spyware</a:t>
            </a:r>
            <a:r>
              <a:rPr lang="hu-HU" sz="2000" dirty="0"/>
              <a:t> és </a:t>
            </a:r>
            <a:r>
              <a:rPr lang="hu-HU" sz="2000" dirty="0" err="1"/>
              <a:t>adware</a:t>
            </a:r>
            <a:r>
              <a:rPr lang="hu-HU" sz="2000" dirty="0"/>
              <a:t>) </a:t>
            </a:r>
          </a:p>
          <a:p>
            <a:r>
              <a:rPr lang="hu-HU" sz="2000" dirty="0" err="1"/>
              <a:t>Nulladik</a:t>
            </a:r>
            <a:r>
              <a:rPr lang="hu-HU" sz="2000" dirty="0"/>
              <a:t> napi támadások, más néven </a:t>
            </a:r>
            <a:r>
              <a:rPr lang="hu-HU" sz="2000" dirty="0" err="1"/>
              <a:t>nulladik</a:t>
            </a:r>
            <a:r>
              <a:rPr lang="hu-HU" sz="2000" dirty="0"/>
              <a:t> órás támadások</a:t>
            </a:r>
          </a:p>
          <a:p>
            <a:r>
              <a:rPr lang="hu-HU" sz="2000" dirty="0"/>
              <a:t>Hacker támadások</a:t>
            </a:r>
          </a:p>
          <a:p>
            <a:r>
              <a:rPr lang="hu-HU" sz="2000" dirty="0"/>
              <a:t>Szolgáltatásmegtagadási támadások (</a:t>
            </a:r>
            <a:r>
              <a:rPr lang="hu-HU" sz="2000" dirty="0" err="1"/>
              <a:t>Denial</a:t>
            </a:r>
            <a:r>
              <a:rPr lang="hu-HU" sz="2000" dirty="0"/>
              <a:t> of Service, </a:t>
            </a:r>
            <a:r>
              <a:rPr lang="hu-HU" sz="2000" dirty="0" err="1"/>
              <a:t>DoS</a:t>
            </a:r>
            <a:r>
              <a:rPr lang="hu-HU" sz="2000" dirty="0"/>
              <a:t>)</a:t>
            </a:r>
          </a:p>
          <a:p>
            <a:r>
              <a:rPr lang="hu-HU" sz="2000" dirty="0"/>
              <a:t>Adatlehallgatás és a lopás</a:t>
            </a:r>
          </a:p>
          <a:p>
            <a:r>
              <a:rPr lang="hu-HU" sz="2000" dirty="0"/>
              <a:t>Személyazonosság-lopás</a:t>
            </a:r>
            <a:endParaRPr lang="en-US" sz="2000" dirty="0"/>
          </a:p>
        </p:txBody>
      </p:sp>
    </p:spTree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biztonság</a:t>
            </a:r>
            <a:br>
              <a:rPr lang="en-US" dirty="0">
                <a:latin typeface="Arial" charset="0"/>
              </a:rPr>
            </a:br>
            <a:r>
              <a:rPr lang="hu-HU" b="0" dirty="0"/>
              <a:t>Biztonsági megoldások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000" dirty="0"/>
              <a:t>Hálózatok gyakran alkalmazott biztonsági elemei:</a:t>
            </a:r>
            <a:endParaRPr lang="en-US" sz="2000" dirty="0"/>
          </a:p>
          <a:p>
            <a:r>
              <a:rPr lang="en-US" sz="2000" dirty="0" err="1"/>
              <a:t>Vírus</a:t>
            </a:r>
            <a:r>
              <a:rPr lang="en-US" sz="2000" dirty="0"/>
              <a:t>-és </a:t>
            </a:r>
            <a:r>
              <a:rPr lang="en-US" sz="2000" dirty="0" err="1"/>
              <a:t>kémprogramvédelem</a:t>
            </a:r>
            <a:r>
              <a:rPr lang="en-US" sz="2000" dirty="0"/>
              <a:t> </a:t>
            </a:r>
            <a:endParaRPr lang="hu-HU" sz="2000" dirty="0"/>
          </a:p>
          <a:p>
            <a:r>
              <a:rPr lang="hu-HU" sz="2000" dirty="0"/>
              <a:t>Tűzfal szűrés </a:t>
            </a:r>
          </a:p>
          <a:p>
            <a:r>
              <a:rPr lang="hu-HU" sz="2000" dirty="0"/>
              <a:t>Dedikált tűzfalrendszerek</a:t>
            </a:r>
          </a:p>
          <a:p>
            <a:r>
              <a:rPr lang="hu-HU" sz="2000" dirty="0"/>
              <a:t>Hozzáférés-szabályozó listák (Access </a:t>
            </a:r>
            <a:r>
              <a:rPr lang="hu-HU" sz="2000" dirty="0" err="1"/>
              <a:t>control</a:t>
            </a:r>
            <a:r>
              <a:rPr lang="hu-HU" sz="2000" dirty="0"/>
              <a:t> </a:t>
            </a:r>
            <a:r>
              <a:rPr lang="hu-HU" sz="2000" dirty="0" err="1"/>
              <a:t>lists</a:t>
            </a:r>
            <a:r>
              <a:rPr lang="hu-HU" sz="2000" dirty="0"/>
              <a:t>, ACL)</a:t>
            </a:r>
          </a:p>
          <a:p>
            <a:r>
              <a:rPr lang="hu-HU" sz="2000" dirty="0"/>
              <a:t>Behatolás-megelőző rendszerek  (</a:t>
            </a:r>
            <a:r>
              <a:rPr lang="en-US" sz="2000" dirty="0"/>
              <a:t>Intrusion prevention systems</a:t>
            </a:r>
            <a:r>
              <a:rPr lang="hu-HU" sz="2000" dirty="0"/>
              <a:t>, </a:t>
            </a:r>
            <a:r>
              <a:rPr lang="en-US" sz="2000" dirty="0"/>
              <a:t>IPS) </a:t>
            </a:r>
          </a:p>
          <a:p>
            <a:r>
              <a:rPr lang="en-US" sz="2000" dirty="0" err="1"/>
              <a:t>Virtuális</a:t>
            </a:r>
            <a:r>
              <a:rPr lang="en-US" sz="2000" dirty="0"/>
              <a:t> </a:t>
            </a:r>
            <a:r>
              <a:rPr lang="en-US" sz="2000" dirty="0" err="1"/>
              <a:t>magánhálózatok</a:t>
            </a:r>
            <a:r>
              <a:rPr lang="en-US" sz="2000" dirty="0"/>
              <a:t> (Virtual private networks, VPN)</a:t>
            </a:r>
          </a:p>
        </p:txBody>
      </p:sp>
    </p:spTree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1800" dirty="0"/>
              <a:t>Hálózati architektúrák</a:t>
            </a:r>
            <a:br>
              <a:rPr lang="en-US" dirty="0">
                <a:latin typeface="Arial" charset="0"/>
              </a:rPr>
            </a:br>
            <a:r>
              <a:rPr lang="hu-HU" b="0" dirty="0"/>
              <a:t>Cisco hálózati architektúrák</a:t>
            </a:r>
            <a:endParaRPr lang="en-US" dirty="0">
              <a:latin typeface="Arial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810" r="-26810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sz="1800" dirty="0"/>
              <a:t>Hálózati architektúrák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Cisco Certified Network Associate (CCNA)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297544" y="1755456"/>
            <a:ext cx="6702127" cy="4549494"/>
            <a:chOff x="1547664" y="908720"/>
            <a:chExt cx="6702127" cy="4549494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7664" y="1556792"/>
              <a:ext cx="4487763" cy="39014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76056" y="908720"/>
              <a:ext cx="3173735" cy="1685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A </a:t>
            </a:r>
            <a:r>
              <a:rPr lang="en-US" sz="1800" dirty="0" err="1">
                <a:latin typeface="Arial" charset="0"/>
              </a:rPr>
              <a:t>vállalatok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infrastruktúrájának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megismeréseing</a:t>
            </a:r>
            <a:br>
              <a:rPr lang="en-US" sz="1800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Összefoglalás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09" y="1280160"/>
            <a:ext cx="8733677" cy="5185747"/>
          </a:xfrm>
        </p:spPr>
        <p:txBody>
          <a:bodyPr/>
          <a:lstStyle/>
          <a:p>
            <a:endParaRPr lang="hu-HU" sz="2000" dirty="0"/>
          </a:p>
          <a:p>
            <a:r>
              <a:rPr lang="en-US" sz="2000" dirty="0"/>
              <a:t>A </a:t>
            </a:r>
            <a:r>
              <a:rPr lang="en-US" sz="2000" dirty="0" err="1"/>
              <a:t>hálózatok</a:t>
            </a:r>
            <a:r>
              <a:rPr lang="en-US" sz="2000" dirty="0"/>
              <a:t> és </a:t>
            </a:r>
            <a:r>
              <a:rPr lang="en-US" sz="2000" dirty="0" err="1"/>
              <a:t>az</a:t>
            </a:r>
            <a:r>
              <a:rPr lang="en-US" sz="2000" dirty="0"/>
              <a:t> internet </a:t>
            </a:r>
            <a:r>
              <a:rPr lang="en-US" sz="2000" dirty="0" err="1"/>
              <a:t>megváltoztatta</a:t>
            </a:r>
            <a:r>
              <a:rPr lang="en-US" sz="2000" dirty="0"/>
              <a:t> </a:t>
            </a:r>
            <a:r>
              <a:rPr lang="en-US" sz="2000" dirty="0" err="1"/>
              <a:t>azt</a:t>
            </a:r>
            <a:r>
              <a:rPr lang="en-US" sz="2000" dirty="0"/>
              <a:t>, </a:t>
            </a:r>
            <a:r>
              <a:rPr lang="en-US" sz="2000" dirty="0" err="1"/>
              <a:t>ahogy</a:t>
            </a:r>
            <a:r>
              <a:rPr lang="en-US" sz="2000" dirty="0"/>
              <a:t> </a:t>
            </a:r>
            <a:r>
              <a:rPr lang="en-US" sz="2000" dirty="0" err="1"/>
              <a:t>tanulunk</a:t>
            </a:r>
            <a:r>
              <a:rPr lang="en-US" sz="2000" dirty="0"/>
              <a:t>, </a:t>
            </a:r>
            <a:r>
              <a:rPr lang="en-US" sz="2000" dirty="0" err="1"/>
              <a:t>ahogy</a:t>
            </a:r>
            <a:r>
              <a:rPr lang="en-US" sz="2000" dirty="0"/>
              <a:t> </a:t>
            </a:r>
            <a:r>
              <a:rPr lang="en-US" sz="2000" dirty="0" err="1"/>
              <a:t>kommunikálunk</a:t>
            </a:r>
            <a:r>
              <a:rPr lang="en-US" sz="2000" dirty="0"/>
              <a:t>, </a:t>
            </a:r>
            <a:r>
              <a:rPr lang="en-US" sz="2000" dirty="0" err="1"/>
              <a:t>ahogy</a:t>
            </a:r>
            <a:r>
              <a:rPr lang="en-US" sz="2000" dirty="0"/>
              <a:t> </a:t>
            </a:r>
            <a:r>
              <a:rPr lang="en-US" sz="2000" dirty="0" err="1"/>
              <a:t>dolgozunk</a:t>
            </a:r>
            <a:r>
              <a:rPr lang="en-US" sz="2000" dirty="0"/>
              <a:t>, de </a:t>
            </a:r>
            <a:r>
              <a:rPr lang="en-US" sz="2000" dirty="0" err="1"/>
              <a:t>még</a:t>
            </a:r>
            <a:r>
              <a:rPr lang="en-US" sz="2000" dirty="0"/>
              <a:t> </a:t>
            </a:r>
            <a:r>
              <a:rPr lang="en-US" sz="2000" dirty="0" err="1"/>
              <a:t>azt</a:t>
            </a:r>
            <a:r>
              <a:rPr lang="en-US" sz="2000" dirty="0"/>
              <a:t> is, </a:t>
            </a:r>
            <a:r>
              <a:rPr lang="en-US" sz="2000" dirty="0" err="1"/>
              <a:t>ahogy</a:t>
            </a:r>
            <a:r>
              <a:rPr lang="en-US" sz="2000" dirty="0"/>
              <a:t> </a:t>
            </a:r>
            <a:r>
              <a:rPr lang="en-US" sz="2000" dirty="0" err="1"/>
              <a:t>játszunk</a:t>
            </a:r>
            <a:r>
              <a:rPr lang="en-US" sz="2000" dirty="0"/>
              <a:t>.</a:t>
            </a:r>
            <a:endParaRPr lang="hu-HU" sz="2000" dirty="0"/>
          </a:p>
          <a:p>
            <a:r>
              <a:rPr lang="hu-HU" sz="2000" dirty="0"/>
              <a:t>A legkülönbözőbb méretű hálózatok léteznek. A méretük az egyszerű, két számítógépes hálózattól egészen a több millió eszközt tartalmazó hálózatokig terjed.</a:t>
            </a:r>
            <a:r>
              <a:rPr lang="en-US" sz="2000" dirty="0"/>
              <a:t> </a:t>
            </a:r>
          </a:p>
          <a:p>
            <a:r>
              <a:rPr lang="hu-HU" sz="2000" dirty="0"/>
              <a:t>Az internet a legnagyobb létező hálózat. Valójában az internet jelentése a "hálózatok hálózata". Az internet biztosítja azokat a szolgáltatásokat, amelyek lehetővé teszik szánunkra, hogy kapcsolatba lépjünk és kommunikáljunk a családtagjainkkal, a barátainkkal, a munkahelyünkkel vagy az érdeklődési körünkbe tartozókkal.</a:t>
            </a:r>
          </a:p>
          <a:p>
            <a:r>
              <a:rPr lang="hu-HU" sz="2000" dirty="0"/>
              <a:t>A hálózati infrastruktúra biztosítja a mindennapjaink során használt hálózati kommunikációt. Ez teremti meg azt a stabil és megbízható csatornát, amelyen mindennapjaink kommunikációja folyhat. Ez olyan összetevőkből áll, mint a végberendezések, a közvetítő eszközök és az átviteli közeg. </a:t>
            </a:r>
            <a:r>
              <a:rPr lang="en-US" sz="2000" dirty="0"/>
              <a:t>.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987261"/>
      </p:ext>
    </p:extLst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1800" dirty="0">
                <a:latin typeface="Arial" charset="0"/>
              </a:rPr>
              <a:t>A </a:t>
            </a:r>
            <a:r>
              <a:rPr lang="en-US" sz="1800" dirty="0" err="1">
                <a:latin typeface="Arial" charset="0"/>
              </a:rPr>
              <a:t>vállalatok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hálózati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infrastruktúrájának</a:t>
            </a:r>
            <a:r>
              <a:rPr lang="en-US" sz="1800" dirty="0">
                <a:latin typeface="Arial" charset="0"/>
              </a:rPr>
              <a:t> </a:t>
            </a:r>
            <a:r>
              <a:rPr lang="en-US" sz="1800" dirty="0" err="1">
                <a:latin typeface="Arial" charset="0"/>
              </a:rPr>
              <a:t>megismeréseing</a:t>
            </a:r>
            <a:br>
              <a:rPr lang="en-US" sz="1800" dirty="0">
                <a:latin typeface="Arial" charset="0"/>
              </a:rPr>
            </a:br>
            <a:r>
              <a:rPr lang="en-US" dirty="0" err="1">
                <a:latin typeface="Arial" charset="0"/>
              </a:rPr>
              <a:t>Összefoglalás</a:t>
            </a:r>
            <a:r>
              <a:rPr lang="en-US" dirty="0">
                <a:latin typeface="Arial" charset="0"/>
              </a:rPr>
              <a:t> (</a:t>
            </a:r>
            <a:r>
              <a:rPr lang="hu-HU" dirty="0">
                <a:latin typeface="Arial" charset="0"/>
              </a:rPr>
              <a:t>folyt.)</a:t>
            </a:r>
            <a:endParaRPr lang="en-US" dirty="0">
              <a:latin typeface="Arial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109" y="1706880"/>
            <a:ext cx="8733677" cy="4759027"/>
          </a:xfrm>
        </p:spPr>
        <p:txBody>
          <a:bodyPr/>
          <a:lstStyle/>
          <a:p>
            <a:r>
              <a:rPr lang="hu-HU" sz="2000" dirty="0"/>
              <a:t>A hálózatoknak megbízhatónak kell lenniük.</a:t>
            </a:r>
          </a:p>
          <a:p>
            <a:r>
              <a:rPr lang="hu-HU" sz="2000" dirty="0"/>
              <a:t>A hálózati biztonság szerves része a számítógépes hálózatoknak, függetlenül attól, hogy csak egy otthoni környezetben lévő hálózatról és egyetlen internetkapcsolatról, vagy egy nagyvállalati, több ezer felhasználós hálózatról van szó. </a:t>
            </a:r>
          </a:p>
          <a:p>
            <a:r>
              <a:rPr lang="hu-HU" sz="2000" dirty="0"/>
              <a:t>A hálózati infrastruktúrák nagyban eltérnek egymástól a nagyság, a felhasználók száma, a támogatott szolgáltatások típusa és mennyisége tekintetében. A hálózati infrastruktúrának az új felhasználási igényeknek megfelelően kell nőnie és alkalmazkodnia azokhoz. A forgalomirányítás és kapcsolás az a közös platform, amely minden hálózati infrastruktúra alapja.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0698111"/>
      </p:ext>
    </p:extLst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124" tIns="41061" rIns="82124" bIns="41061" anchor="ctr"/>
          <a:lstStyle/>
          <a:p>
            <a:endParaRPr lang="en-US"/>
          </a:p>
        </p:txBody>
      </p:sp>
      <p:pic>
        <p:nvPicPr>
          <p:cNvPr id="121858" name="Picture 3" descr="CNA_largo-onwhite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25" y="2741613"/>
            <a:ext cx="6097588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87FE784E5BA16C46A1B8DCFD81161696" ma:contentTypeVersion="0" ma:contentTypeDescription="Új dokumentum létrehozása." ma:contentTypeScope="" ma:versionID="2c62891ae7958eec8050b79adf0fe28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272c3706e31d85aa278778a1025862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8389A7-CBD3-4963-B303-185871C459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95AF7CC-3AAF-40AA-895A-E45C85CBF0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8DAF17-3262-4DB3-BDEC-ED7FE752CBD8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20792</TotalTime>
  <Pages>28</Pages>
  <Words>1383</Words>
  <Application>Microsoft Office PowerPoint</Application>
  <PresentationFormat>On-screen Show (4:3)</PresentationFormat>
  <Paragraphs>266</Paragraphs>
  <Slides>57</Slides>
  <Notes>50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59" baseType="lpstr">
      <vt:lpstr>PPT-TMPLT-WHT_C</vt:lpstr>
      <vt:lpstr>NetAcad-4F_PPT-WHT_060408</vt:lpstr>
      <vt:lpstr>3. óra</vt:lpstr>
      <vt:lpstr>1. fejezet: A vállalatok hálózati infrastruktúrájának megismerése</vt:lpstr>
      <vt:lpstr>Témakörök</vt:lpstr>
      <vt:lpstr>Tartalomjegyzék</vt:lpstr>
      <vt:lpstr>1.1  Globálisan összekapcsolódva</vt:lpstr>
      <vt:lpstr>A hálózat jelene Hálózatok a mindennapokban</vt:lpstr>
      <vt:lpstr>A hálózat jelene A globális közösség</vt:lpstr>
      <vt:lpstr>A hálózat jelene Hálózatok a mindennapokban</vt:lpstr>
      <vt:lpstr>   Laborgyakorlat: 1.1.1.8 </vt:lpstr>
      <vt:lpstr>Erőforrások biztosítása egy hálózaton Különböző méretű hálózatok</vt:lpstr>
      <vt:lpstr>Erőforrások biztosítása egy hálózaton Kliensek és szerverek</vt:lpstr>
      <vt:lpstr>Erőforrások biztosítása egy hálózaton Egyenrangú (peer-to-peer) állomások hálózata</vt:lpstr>
      <vt:lpstr>1.2  LAN, WAN és az internet </vt:lpstr>
      <vt:lpstr>LAN, WAN és az internet  A hálózat elemei</vt:lpstr>
      <vt:lpstr>A hálózat elemei Végberendezések</vt:lpstr>
      <vt:lpstr>A hálózat elemei Network Infrastructure Devices</vt:lpstr>
      <vt:lpstr>A hálózat elemei Hálózati átviteli közegek</vt:lpstr>
      <vt:lpstr>A hálózat elemei A hálózatok megjelenítése</vt:lpstr>
      <vt:lpstr>A hálózat elemei Topológiai ábrák</vt:lpstr>
      <vt:lpstr>LAN és WAN Hálózattípusok</vt:lpstr>
      <vt:lpstr>LAN és WAN Helyi hálózatok</vt:lpstr>
      <vt:lpstr>LAN és WAN Nagytávolságú hálózatok</vt:lpstr>
      <vt:lpstr>LAN, WAN és az internet Az internet</vt:lpstr>
      <vt:lpstr>LAN, WAN és az internet  Intranet és extranet</vt:lpstr>
      <vt:lpstr>Laborgyakorlat: 1.2.3.3 </vt:lpstr>
      <vt:lpstr>Csatlakozás az internethez Távoli felhasználók internet csatlakozása</vt:lpstr>
      <vt:lpstr>Csatlakozás az internethez Vállalatok internet csatlakozása</vt:lpstr>
      <vt:lpstr>4. óra</vt:lpstr>
      <vt:lpstr>1.3  A hálózat mint felület</vt:lpstr>
      <vt:lpstr>Konvergált hálózatok A konvergáló hálózat</vt:lpstr>
      <vt:lpstr>Konvergált hálózatok A jövő tervezése</vt:lpstr>
      <vt:lpstr>Laborgyakorlat: 1.3.1.3 </vt:lpstr>
      <vt:lpstr>Megbízható hálózat A hálózati architektúra</vt:lpstr>
      <vt:lpstr>Megbízható hálózat Hibatűrés vonalkapcsolt hálózatokban</vt:lpstr>
      <vt:lpstr>Megbízható hálózat Csomagkapcsolt hálózatok</vt:lpstr>
      <vt:lpstr>Megbízható hálózat Skálázható hálózatok</vt:lpstr>
      <vt:lpstr>Megbízható hálózat QoS biztosítása</vt:lpstr>
      <vt:lpstr>Megbízható hálózat Hálózatbiztonság</vt:lpstr>
      <vt:lpstr>5. óra</vt:lpstr>
      <vt:lpstr>1.4  A válltozó hálózati környezet</vt:lpstr>
      <vt:lpstr>Hálózati trendek Új trendek</vt:lpstr>
      <vt:lpstr>Hálózati trendek "Hozd a saját eszközödet" (Bring Your Own Device, BYOD)</vt:lpstr>
      <vt:lpstr>Hálózati trendek Online csoportmunka</vt:lpstr>
      <vt:lpstr>Hálózati trendek Videó kommunikáció</vt:lpstr>
      <vt:lpstr>Hálózati trendek Felhő alapú szolgáltatások</vt:lpstr>
      <vt:lpstr>Hálózati trendek Adatközpontok</vt:lpstr>
      <vt:lpstr>Hálózati technológiák otthoni használatra Technológiai trendek az otthonunkban</vt:lpstr>
      <vt:lpstr>Hálózati technológiák otthoni használatra Hálózat az elektromos hálózaton</vt:lpstr>
      <vt:lpstr>Hálózati technológiák otthoni használatra Vezeték nélküli szélessávú hozzáférés</vt:lpstr>
      <vt:lpstr>Hálózati biztonság A biztonsági fenyegetések</vt:lpstr>
      <vt:lpstr>Hálózati biztonság A biztonsági fenyegetések</vt:lpstr>
      <vt:lpstr>Hálózati biztonság Biztonsági megoldások</vt:lpstr>
      <vt:lpstr>Hálózati architektúrák Cisco hálózati architektúrák</vt:lpstr>
      <vt:lpstr>Hálózati architektúrák Cisco Certified Network Associate (CCNA)</vt:lpstr>
      <vt:lpstr>A vállalatok hálózati infrastruktúrájának megismeréseing Összefoglalás</vt:lpstr>
      <vt:lpstr>A vállalatok hálózati infrastruktúrájának megismeréseing Összefoglalás (folyt.)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 PC v4.0 Chapter 1</dc:title>
  <dc:creator>Karen Alderson</dc:creator>
  <cp:lastModifiedBy>Windows-felhasználó</cp:lastModifiedBy>
  <cp:revision>740</cp:revision>
  <cp:lastPrinted>1999-01-27T00:54:54Z</cp:lastPrinted>
  <dcterms:created xsi:type="dcterms:W3CDTF">2006-10-23T15:07:30Z</dcterms:created>
  <dcterms:modified xsi:type="dcterms:W3CDTF">2021-02-04T08:52:55Z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0x01010087FE784E5BA16C46A1B8DCFD81161696</vt:lpwstr>
  </property>
</Properties>
</file>