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4"/>
    <p:sldMasterId id="2147483945" r:id="rId5"/>
  </p:sldMasterIdLst>
  <p:notesMasterIdLst>
    <p:notesMasterId r:id="rId63"/>
  </p:notesMasterIdLst>
  <p:handoutMasterIdLst>
    <p:handoutMasterId r:id="rId64"/>
  </p:handoutMasterIdLst>
  <p:sldIdLst>
    <p:sldId id="777" r:id="rId6"/>
    <p:sldId id="500" r:id="rId7"/>
    <p:sldId id="541" r:id="rId8"/>
    <p:sldId id="763" r:id="rId9"/>
    <p:sldId id="772" r:id="rId10"/>
    <p:sldId id="735" r:id="rId11"/>
    <p:sldId id="764" r:id="rId12"/>
    <p:sldId id="710" r:id="rId13"/>
    <p:sldId id="711" r:id="rId14"/>
    <p:sldId id="713" r:id="rId15"/>
    <p:sldId id="714" r:id="rId16"/>
    <p:sldId id="762" r:id="rId17"/>
    <p:sldId id="715" r:id="rId18"/>
    <p:sldId id="716" r:id="rId19"/>
    <p:sldId id="719" r:id="rId20"/>
    <p:sldId id="721" r:id="rId21"/>
    <p:sldId id="722" r:id="rId22"/>
    <p:sldId id="723" r:id="rId23"/>
    <p:sldId id="724" r:id="rId24"/>
    <p:sldId id="778" r:id="rId25"/>
    <p:sldId id="720" r:id="rId26"/>
    <p:sldId id="726" r:id="rId27"/>
    <p:sldId id="730" r:id="rId28"/>
    <p:sldId id="734" r:id="rId29"/>
    <p:sldId id="733" r:id="rId30"/>
    <p:sldId id="731" r:id="rId31"/>
    <p:sldId id="732" r:id="rId32"/>
    <p:sldId id="779" r:id="rId33"/>
    <p:sldId id="773" r:id="rId34"/>
    <p:sldId id="727" r:id="rId35"/>
    <p:sldId id="742" r:id="rId36"/>
    <p:sldId id="740" r:id="rId37"/>
    <p:sldId id="766" r:id="rId38"/>
    <p:sldId id="738" r:id="rId39"/>
    <p:sldId id="765" r:id="rId40"/>
    <p:sldId id="768" r:id="rId41"/>
    <p:sldId id="769" r:id="rId42"/>
    <p:sldId id="745" r:id="rId43"/>
    <p:sldId id="746" r:id="rId44"/>
    <p:sldId id="748" r:id="rId45"/>
    <p:sldId id="780" r:id="rId46"/>
    <p:sldId id="774" r:id="rId47"/>
    <p:sldId id="739" r:id="rId48"/>
    <p:sldId id="751" r:id="rId49"/>
    <p:sldId id="750" r:id="rId50"/>
    <p:sldId id="775" r:id="rId51"/>
    <p:sldId id="752" r:id="rId52"/>
    <p:sldId id="754" r:id="rId53"/>
    <p:sldId id="755" r:id="rId54"/>
    <p:sldId id="753" r:id="rId55"/>
    <p:sldId id="760" r:id="rId56"/>
    <p:sldId id="756" r:id="rId57"/>
    <p:sldId id="781" r:id="rId58"/>
    <p:sldId id="776" r:id="rId59"/>
    <p:sldId id="770" r:id="rId60"/>
    <p:sldId id="771" r:id="rId61"/>
    <p:sldId id="681" r:id="rId62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ttoria deloulay" initials="vd" lastIdx="18" clrIdx="0"/>
  <p:cmAuthor id="1" name="carykell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83" autoAdjust="0"/>
    <p:restoredTop sz="77872" autoAdjust="0"/>
  </p:normalViewPr>
  <p:slideViewPr>
    <p:cSldViewPr snapToGrid="0">
      <p:cViewPr varScale="1">
        <p:scale>
          <a:sx n="61" d="100"/>
          <a:sy n="61" d="100"/>
        </p:scale>
        <p:origin x="-159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slide" Target="slides/slide5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4.xml"/><Relationship Id="rId13" Type="http://schemas.openxmlformats.org/officeDocument/2006/relationships/slide" Target="slides/slide19.xml"/><Relationship Id="rId18" Type="http://schemas.openxmlformats.org/officeDocument/2006/relationships/slide" Target="slides/slide25.xml"/><Relationship Id="rId26" Type="http://schemas.openxmlformats.org/officeDocument/2006/relationships/slide" Target="slides/slide35.xml"/><Relationship Id="rId39" Type="http://schemas.openxmlformats.org/officeDocument/2006/relationships/slide" Target="slides/slide50.xml"/><Relationship Id="rId3" Type="http://schemas.openxmlformats.org/officeDocument/2006/relationships/slide" Target="slides/slide9.xml"/><Relationship Id="rId21" Type="http://schemas.openxmlformats.org/officeDocument/2006/relationships/slide" Target="slides/slide30.xml"/><Relationship Id="rId34" Type="http://schemas.openxmlformats.org/officeDocument/2006/relationships/slide" Target="slides/slide45.xml"/><Relationship Id="rId42" Type="http://schemas.openxmlformats.org/officeDocument/2006/relationships/slide" Target="slides/slide54.xml"/><Relationship Id="rId7" Type="http://schemas.openxmlformats.org/officeDocument/2006/relationships/slide" Target="slides/slide13.xml"/><Relationship Id="rId12" Type="http://schemas.openxmlformats.org/officeDocument/2006/relationships/slide" Target="slides/slide18.xml"/><Relationship Id="rId17" Type="http://schemas.openxmlformats.org/officeDocument/2006/relationships/slide" Target="slides/slide24.xml"/><Relationship Id="rId25" Type="http://schemas.openxmlformats.org/officeDocument/2006/relationships/slide" Target="slides/slide34.xml"/><Relationship Id="rId33" Type="http://schemas.openxmlformats.org/officeDocument/2006/relationships/slide" Target="slides/slide44.xml"/><Relationship Id="rId38" Type="http://schemas.openxmlformats.org/officeDocument/2006/relationships/slide" Target="slides/slide49.xml"/><Relationship Id="rId2" Type="http://schemas.openxmlformats.org/officeDocument/2006/relationships/slide" Target="slides/slide8.xml"/><Relationship Id="rId16" Type="http://schemas.openxmlformats.org/officeDocument/2006/relationships/slide" Target="slides/slide23.xml"/><Relationship Id="rId20" Type="http://schemas.openxmlformats.org/officeDocument/2006/relationships/slide" Target="slides/slide27.xml"/><Relationship Id="rId29" Type="http://schemas.openxmlformats.org/officeDocument/2006/relationships/slide" Target="slides/slide38.xml"/><Relationship Id="rId41" Type="http://schemas.openxmlformats.org/officeDocument/2006/relationships/slide" Target="slides/slide52.xml"/><Relationship Id="rId1" Type="http://schemas.openxmlformats.org/officeDocument/2006/relationships/slide" Target="slides/slide6.xml"/><Relationship Id="rId6" Type="http://schemas.openxmlformats.org/officeDocument/2006/relationships/slide" Target="slides/slide12.xml"/><Relationship Id="rId11" Type="http://schemas.openxmlformats.org/officeDocument/2006/relationships/slide" Target="slides/slide17.xml"/><Relationship Id="rId24" Type="http://schemas.openxmlformats.org/officeDocument/2006/relationships/slide" Target="slides/slide33.xml"/><Relationship Id="rId32" Type="http://schemas.openxmlformats.org/officeDocument/2006/relationships/slide" Target="slides/slide43.xml"/><Relationship Id="rId37" Type="http://schemas.openxmlformats.org/officeDocument/2006/relationships/slide" Target="slides/slide48.xml"/><Relationship Id="rId40" Type="http://schemas.openxmlformats.org/officeDocument/2006/relationships/slide" Target="slides/slide51.xml"/><Relationship Id="rId5" Type="http://schemas.openxmlformats.org/officeDocument/2006/relationships/slide" Target="slides/slide11.xml"/><Relationship Id="rId15" Type="http://schemas.openxmlformats.org/officeDocument/2006/relationships/slide" Target="slides/slide22.xml"/><Relationship Id="rId23" Type="http://schemas.openxmlformats.org/officeDocument/2006/relationships/slide" Target="slides/slide32.xml"/><Relationship Id="rId28" Type="http://schemas.openxmlformats.org/officeDocument/2006/relationships/slide" Target="slides/slide37.xml"/><Relationship Id="rId36" Type="http://schemas.openxmlformats.org/officeDocument/2006/relationships/slide" Target="slides/slide47.xml"/><Relationship Id="rId10" Type="http://schemas.openxmlformats.org/officeDocument/2006/relationships/slide" Target="slides/slide16.xml"/><Relationship Id="rId19" Type="http://schemas.openxmlformats.org/officeDocument/2006/relationships/slide" Target="slides/slide26.xml"/><Relationship Id="rId31" Type="http://schemas.openxmlformats.org/officeDocument/2006/relationships/slide" Target="slides/slide40.xml"/><Relationship Id="rId44" Type="http://schemas.openxmlformats.org/officeDocument/2006/relationships/slide" Target="slides/slide56.xml"/><Relationship Id="rId4" Type="http://schemas.openxmlformats.org/officeDocument/2006/relationships/slide" Target="slides/slide10.xml"/><Relationship Id="rId9" Type="http://schemas.openxmlformats.org/officeDocument/2006/relationships/slide" Target="slides/slide15.xml"/><Relationship Id="rId14" Type="http://schemas.openxmlformats.org/officeDocument/2006/relationships/slide" Target="slides/slide21.xml"/><Relationship Id="rId22" Type="http://schemas.openxmlformats.org/officeDocument/2006/relationships/slide" Target="slides/slide31.xml"/><Relationship Id="rId27" Type="http://schemas.openxmlformats.org/officeDocument/2006/relationships/slide" Target="slides/slide36.xml"/><Relationship Id="rId30" Type="http://schemas.openxmlformats.org/officeDocument/2006/relationships/slide" Target="slides/slide39.xml"/><Relationship Id="rId35" Type="http://schemas.openxmlformats.org/officeDocument/2006/relationships/slide" Target="slides/slide46.xml"/><Relationship Id="rId43" Type="http://schemas.openxmlformats.org/officeDocument/2006/relationships/slide" Target="slides/slide5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47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108548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49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E09094E-08C8-408C-AB8A-4622A2A54240}" type="slidenum">
              <a:rPr lang="en-US" sz="800"/>
              <a:pPr algn="r" defTabSz="903288">
                <a:lnSpc>
                  <a:spcPct val="100000"/>
                </a:lnSpc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655816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47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573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DFC9B780-5DB9-4EA3-984D-3ED5FA4B04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73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8527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96EB1EB-B24C-4552-B40F-C9B043E6F693}" type="slidenum">
              <a:rPr lang="en-US" sz="800" smtClean="0"/>
              <a:pPr/>
              <a:t>2</a:t>
            </a:fld>
            <a:endParaRPr lang="en-US" sz="80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</a:t>
            </a:r>
            <a:r>
              <a:rPr lang="en-US" b="1" dirty="0" err="1" smtClean="0"/>
              <a:t>Hálózati</a:t>
            </a:r>
            <a:r>
              <a:rPr lang="en-US" b="1" dirty="0" smtClean="0"/>
              <a:t> </a:t>
            </a:r>
            <a:r>
              <a:rPr lang="en-US" b="1" dirty="0" err="1" smtClean="0"/>
              <a:t>Akadémia</a:t>
            </a:r>
            <a:r>
              <a:rPr lang="en-US" b="1" dirty="0" smtClean="0"/>
              <a:t> program</a:t>
            </a:r>
          </a:p>
          <a:p>
            <a:pPr>
              <a:buFontTx/>
              <a:buNone/>
            </a:pPr>
            <a:r>
              <a:rPr lang="en-US" b="1" dirty="0" err="1" smtClean="0"/>
              <a:t>Bevezetés</a:t>
            </a:r>
            <a:r>
              <a:rPr lang="en-US" b="1" dirty="0" smtClean="0"/>
              <a:t> a </a:t>
            </a:r>
            <a:r>
              <a:rPr lang="en-US" b="1" dirty="0" err="1" smtClean="0"/>
              <a:t>hálózatok</a:t>
            </a:r>
            <a:r>
              <a:rPr lang="en-US" b="1" dirty="0" smtClean="0"/>
              <a:t> </a:t>
            </a:r>
            <a:r>
              <a:rPr lang="en-US" b="1" dirty="0" err="1" smtClean="0"/>
              <a:t>világába</a:t>
            </a:r>
            <a:endParaRPr lang="en-US" b="1" dirty="0" smtClean="0"/>
          </a:p>
          <a:p>
            <a:pPr>
              <a:buFontTx/>
              <a:buNone/>
            </a:pPr>
            <a:r>
              <a:rPr lang="en-US" sz="1300" b="1" dirty="0" smtClean="0"/>
              <a:t>2. </a:t>
            </a:r>
            <a:r>
              <a:rPr lang="en-US" sz="1300" b="1" dirty="0" err="1" smtClean="0"/>
              <a:t>fejezet</a:t>
            </a:r>
            <a:r>
              <a:rPr lang="en-US" sz="1300" b="1" dirty="0" smtClean="0"/>
              <a:t>: </a:t>
            </a:r>
            <a:r>
              <a:rPr lang="en-US" sz="1300" b="1" dirty="0" err="1" smtClean="0"/>
              <a:t>Hálózati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operációs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rendszer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konfigurálása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526029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72AAE223-5F1F-4187-AFD7-ECAC8FE14986}" type="slidenum">
              <a:rPr lang="en-US" sz="800" smtClean="0"/>
              <a:pPr/>
              <a:t>3</a:t>
            </a:fld>
            <a:endParaRPr lang="en-US" sz="800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hu-HU" b="1" dirty="0" smtClean="0"/>
              <a:t>Témakörök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894755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9908416-9EE3-44B5-9AC4-0A563BA935ED}" type="slidenum">
              <a:rPr lang="en-US" sz="800" smtClean="0"/>
              <a:pPr/>
              <a:t>4</a:t>
            </a:fld>
            <a:endParaRPr lang="en-US" sz="80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hu-HU" b="1" dirty="0" smtClean="0"/>
              <a:t>Tartalomjegyzék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244857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2.1  IOS </a:t>
            </a:r>
            <a:r>
              <a:rPr lang="en-US" b="1" dirty="0" err="1" smtClean="0"/>
              <a:t>alapképzés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2198434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7C63FE7-8E98-459B-968A-4F51FD69026B}" type="slidenum">
              <a:rPr lang="en-US" sz="800" smtClean="0"/>
              <a:pPr/>
              <a:t>6</a:t>
            </a:fld>
            <a:endParaRPr lang="en-US" sz="80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2.1.1.1</a:t>
            </a:r>
            <a:r>
              <a:rPr lang="en-US" b="1" baseline="0" dirty="0" smtClean="0"/>
              <a:t> </a:t>
            </a:r>
            <a:r>
              <a:rPr lang="en-US" b="1" dirty="0" err="1" smtClean="0"/>
              <a:t>Operációs</a:t>
            </a:r>
            <a:r>
              <a:rPr lang="en-US" b="1" dirty="0" smtClean="0"/>
              <a:t> </a:t>
            </a:r>
            <a:r>
              <a:rPr lang="en-US" b="1" dirty="0" err="1" smtClean="0"/>
              <a:t>rendszerek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985844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smtClean="0"/>
              <a:t>2.1.1.1</a:t>
            </a:r>
            <a:r>
              <a:rPr lang="en-US" b="1" baseline="0" smtClean="0"/>
              <a:t> </a:t>
            </a:r>
            <a:r>
              <a:rPr lang="en-US" b="1" smtClean="0"/>
              <a:t>Operációs rendszerek</a:t>
            </a: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C9B780-5DB9-4EA3-984D-3ED5FA4B047E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49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710DC11-815E-4CB4-AA0F-93804A5A279C}" type="slidenum">
              <a:rPr lang="en-US" sz="800" smtClean="0"/>
              <a:pPr/>
              <a:t>8</a:t>
            </a:fld>
            <a:endParaRPr lang="en-US" sz="800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2.1.1.2 </a:t>
            </a:r>
            <a:r>
              <a:rPr lang="en-US" b="1" baseline="0" dirty="0" smtClean="0"/>
              <a:t> </a:t>
            </a:r>
            <a:r>
              <a:rPr lang="hu-HU" b="1" dirty="0" smtClean="0"/>
              <a:t>Az IOS célja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080879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4B11526D-68E1-4BCC-9735-B34B1F2256C2}" type="slidenum">
              <a:rPr lang="en-US" sz="800" smtClean="0"/>
              <a:pPr/>
              <a:t>9</a:t>
            </a:fld>
            <a:endParaRPr lang="en-US" sz="80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2.1.1.3  </a:t>
            </a:r>
            <a:r>
              <a:rPr lang="hu-HU" b="1" dirty="0" smtClean="0"/>
              <a:t>A Cisco IOS helye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41755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65A4259-F32C-4A12-B58B-B12ECBCA9FFA}" type="slidenum">
              <a:rPr lang="en-US" sz="800" smtClean="0"/>
              <a:pPr/>
              <a:t>10</a:t>
            </a:fld>
            <a:endParaRPr lang="en-US" sz="800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2.1.1.4  </a:t>
            </a:r>
            <a:r>
              <a:rPr lang="hu-HU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Az IOS funkciói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838313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1892320F-DA54-4615-BC1F-EE9959AD431E}" type="slidenum">
              <a:rPr lang="en-US" sz="800" smtClean="0"/>
              <a:pPr/>
              <a:t>11</a:t>
            </a:fld>
            <a:endParaRPr lang="en-US" sz="80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2.1.2.1  </a:t>
            </a:r>
            <a:r>
              <a:rPr lang="hu-HU" b="1" dirty="0" smtClean="0"/>
              <a:t>Konzol elérési mód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16528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D889EC7D-24E8-4EC2-A180-504EC1B3BDD9}" type="slidenum">
              <a:rPr lang="en-US" sz="800" smtClean="0"/>
              <a:pPr/>
              <a:t>12</a:t>
            </a:fld>
            <a:endParaRPr lang="en-US" sz="80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2.1.2.1  </a:t>
            </a:r>
            <a:r>
              <a:rPr lang="hu-HU" b="1" dirty="0" smtClean="0"/>
              <a:t>Konzol elérési mód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hu-HU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 sávon kívüli azt jelenti, hogy ez egy dedikált felügyeleti csatorna kizárólag az eszköz karbantartására. </a:t>
            </a:r>
            <a:endParaRPr lang="en-US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hu-HU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Jelszó elfelejtése esetén létezik egy speciális eljárás az eszköz jelszó nélküli elérésére.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34978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9D216AE3-9CD4-408B-9F2D-CDEF2494BFF3}" type="slidenum">
              <a:rPr lang="en-US" sz="800" smtClean="0"/>
              <a:pPr/>
              <a:t>13</a:t>
            </a:fld>
            <a:endParaRPr lang="en-US" sz="8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2.1.2.2  </a:t>
            </a:r>
            <a:r>
              <a:rPr lang="hu-HU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Telnet, SSH és AUX hozzáférési módok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224213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7BEEAE8-BFD7-4F5F-B657-E081A39E9320}" type="slidenum">
              <a:rPr lang="en-US" sz="800" smtClean="0"/>
              <a:pPr/>
              <a:t>14</a:t>
            </a:fld>
            <a:endParaRPr lang="en-US" sz="800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2.1.2.3  </a:t>
            </a:r>
            <a:r>
              <a:rPr lang="hu-HU" b="1" dirty="0" smtClean="0"/>
              <a:t>Terminál emulációs programok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6136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30ECD55-717D-4554-9CC2-3C33D910F2C3}" type="slidenum">
              <a:rPr lang="en-US" sz="800" smtClean="0"/>
              <a:pPr/>
              <a:t>15</a:t>
            </a:fld>
            <a:endParaRPr lang="en-US" sz="8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b="1" dirty="0" smtClean="0"/>
              <a:t>2.1.3.1  </a:t>
            </a:r>
            <a:r>
              <a:rPr lang="hu-HU" b="1" dirty="0" smtClean="0"/>
              <a:t>Cisco IOS működési módok</a:t>
            </a:r>
            <a:endParaRPr lang="en-US" b="1" dirty="0" smtClean="0"/>
          </a:p>
          <a:p>
            <a:pPr marL="0" indent="0">
              <a:buFontTx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08747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9694F654-E527-4FA3-8910-E0259C800386}" type="slidenum">
              <a:rPr lang="en-US" sz="800" smtClean="0"/>
              <a:pPr/>
              <a:t>16</a:t>
            </a:fld>
            <a:endParaRPr lang="en-US" sz="800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2.1.3.2  </a:t>
            </a:r>
            <a:r>
              <a:rPr lang="en-US" b="1" dirty="0" err="1" smtClean="0"/>
              <a:t>Elsődleges</a:t>
            </a:r>
            <a:r>
              <a:rPr lang="en-US" b="1" dirty="0" smtClean="0"/>
              <a:t> </a:t>
            </a:r>
            <a:r>
              <a:rPr lang="en-US" b="1" dirty="0" err="1" smtClean="0"/>
              <a:t>módok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02026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E50CCF95-693E-4F51-9A39-79F48A11E5D4}" type="slidenum">
              <a:rPr lang="en-US" sz="800" smtClean="0"/>
              <a:pPr/>
              <a:t>17</a:t>
            </a:fld>
            <a:endParaRPr lang="en-US" sz="80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2.1.3.3  </a:t>
            </a:r>
            <a:r>
              <a:rPr lang="en-US" b="1" dirty="0" err="1" smtClean="0"/>
              <a:t>Globális</a:t>
            </a:r>
            <a:r>
              <a:rPr lang="en-US" b="1" dirty="0" smtClean="0"/>
              <a:t> </a:t>
            </a:r>
            <a:r>
              <a:rPr lang="en-US" b="1" dirty="0" err="1" smtClean="0"/>
              <a:t>konfigurációs</a:t>
            </a:r>
            <a:r>
              <a:rPr lang="en-US" b="1" dirty="0" smtClean="0"/>
              <a:t> </a:t>
            </a:r>
            <a:r>
              <a:rPr lang="en-US" b="1" dirty="0" err="1" smtClean="0"/>
              <a:t>mód</a:t>
            </a:r>
            <a:r>
              <a:rPr lang="en-US" b="1" dirty="0" smtClean="0"/>
              <a:t> </a:t>
            </a:r>
            <a:r>
              <a:rPr lang="en-US" b="1" dirty="0" err="1" smtClean="0"/>
              <a:t>és</a:t>
            </a:r>
            <a:r>
              <a:rPr lang="en-US" b="1" dirty="0" smtClean="0"/>
              <a:t> </a:t>
            </a:r>
            <a:r>
              <a:rPr lang="en-US" b="1" dirty="0" err="1" smtClean="0"/>
              <a:t>almódok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185741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FAB0165-F392-4C97-A3FB-3579C6CC7796}" type="slidenum">
              <a:rPr lang="en-US" sz="800" smtClean="0"/>
              <a:pPr/>
              <a:t>18</a:t>
            </a:fld>
            <a:endParaRPr lang="en-US" sz="800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2.1.3.4  </a:t>
            </a:r>
            <a:r>
              <a:rPr lang="en-US" b="1" dirty="0" err="1" smtClean="0"/>
              <a:t>Átjárás</a:t>
            </a:r>
            <a:r>
              <a:rPr lang="en-US" b="1" dirty="0" smtClean="0"/>
              <a:t> </a:t>
            </a:r>
            <a:r>
              <a:rPr lang="en-US" b="1" dirty="0" err="1" smtClean="0"/>
              <a:t>az</a:t>
            </a:r>
            <a:r>
              <a:rPr lang="en-US" b="1" dirty="0" smtClean="0"/>
              <a:t> IOS-</a:t>
            </a:r>
            <a:r>
              <a:rPr lang="en-US" b="1" dirty="0" err="1" smtClean="0"/>
              <a:t>módok</a:t>
            </a:r>
            <a:r>
              <a:rPr lang="en-US" b="1" dirty="0" smtClean="0"/>
              <a:t> </a:t>
            </a:r>
            <a:r>
              <a:rPr lang="en-US" b="1" dirty="0" err="1" smtClean="0"/>
              <a:t>között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9718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C41463F0-4B87-4884-AF35-DA47D97BACAF}" type="slidenum">
              <a:rPr lang="en-US" sz="800" smtClean="0"/>
              <a:pPr/>
              <a:t>19</a:t>
            </a:fld>
            <a:endParaRPr lang="en-US" sz="800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2.1.3.5  </a:t>
            </a:r>
            <a:r>
              <a:rPr lang="en-US" b="1" dirty="0" err="1" smtClean="0"/>
              <a:t>Átjárás</a:t>
            </a:r>
            <a:r>
              <a:rPr lang="en-US" b="1" dirty="0" smtClean="0"/>
              <a:t> </a:t>
            </a:r>
            <a:r>
              <a:rPr lang="en-US" b="1" dirty="0" err="1" smtClean="0"/>
              <a:t>az</a:t>
            </a:r>
            <a:r>
              <a:rPr lang="en-US" b="1" dirty="0" smtClean="0"/>
              <a:t> IOS-</a:t>
            </a:r>
            <a:r>
              <a:rPr lang="en-US" b="1" dirty="0" err="1" smtClean="0"/>
              <a:t>módok</a:t>
            </a:r>
            <a:r>
              <a:rPr lang="en-US" b="1" dirty="0" smtClean="0"/>
              <a:t> </a:t>
            </a:r>
            <a:r>
              <a:rPr lang="en-US" b="1" dirty="0" err="1" smtClean="0"/>
              <a:t>között</a:t>
            </a:r>
            <a:r>
              <a:rPr lang="en-US" b="1" dirty="0" smtClean="0"/>
              <a:t> (</a:t>
            </a:r>
            <a:r>
              <a:rPr lang="en-US" b="1" dirty="0" err="1" smtClean="0"/>
              <a:t>folytatás</a:t>
            </a:r>
            <a:r>
              <a:rPr lang="en-US" b="1" dirty="0" smtClean="0"/>
              <a:t>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73197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C0BEDF71-DB3B-4331-A284-9199DC5A16E8}" type="slidenum">
              <a:rPr lang="en-US" sz="800" smtClean="0"/>
              <a:pPr/>
              <a:t>21</a:t>
            </a:fld>
            <a:endParaRPr lang="en-US" sz="800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2.1.4.1  </a:t>
            </a:r>
            <a:r>
              <a:rPr lang="en-US" b="1" dirty="0" err="1" smtClean="0"/>
              <a:t>Az</a:t>
            </a:r>
            <a:r>
              <a:rPr lang="en-US" b="1" dirty="0" smtClean="0"/>
              <a:t> IOS-</a:t>
            </a:r>
            <a:r>
              <a:rPr lang="en-US" b="1" dirty="0" err="1" smtClean="0"/>
              <a:t>parancsok</a:t>
            </a:r>
            <a:r>
              <a:rPr lang="en-US" b="1" dirty="0" smtClean="0"/>
              <a:t> </a:t>
            </a:r>
            <a:r>
              <a:rPr lang="en-US" b="1" dirty="0" err="1" smtClean="0"/>
              <a:t>felépítése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353281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DBC93FC5-82C6-451F-856B-C46ABE96BF04}" type="slidenum">
              <a:rPr lang="en-US" sz="800" smtClean="0"/>
              <a:pPr/>
              <a:t>22</a:t>
            </a:fld>
            <a:endParaRPr lang="en-US" sz="800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2.1.4.2  </a:t>
            </a:r>
            <a:r>
              <a:rPr lang="hu-HU" b="1" dirty="0" smtClean="0"/>
              <a:t>A </a:t>
            </a:r>
            <a:r>
              <a:rPr lang="en-US" b="1" dirty="0" smtClean="0"/>
              <a:t>Cisco IOS Command Reference</a:t>
            </a:r>
          </a:p>
        </p:txBody>
      </p:sp>
    </p:spTree>
    <p:extLst>
      <p:ext uri="{BB962C8B-B14F-4D97-AF65-F5344CB8AC3E}">
        <p14:creationId xmlns:p14="http://schemas.microsoft.com/office/powerpoint/2010/main" val="19760518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F4E0352-9AC4-4BF7-8437-99DDEB68E4B8}" type="slidenum">
              <a:rPr lang="en-US" sz="800" smtClean="0"/>
              <a:pPr/>
              <a:t>23</a:t>
            </a:fld>
            <a:endParaRPr lang="en-US" sz="800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2.1.4.3  </a:t>
            </a:r>
            <a:r>
              <a:rPr lang="en-US" b="1" dirty="0" err="1" smtClean="0"/>
              <a:t>Környezetérzékeny</a:t>
            </a:r>
            <a:r>
              <a:rPr lang="en-US" b="1" dirty="0" smtClean="0"/>
              <a:t> </a:t>
            </a:r>
            <a:r>
              <a:rPr lang="en-US" b="1" dirty="0" err="1" smtClean="0"/>
              <a:t>súgó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09365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CB17BCE3-D07B-4105-835F-C584C80D9F47}" type="slidenum">
              <a:rPr lang="en-US" sz="800" smtClean="0"/>
              <a:pPr/>
              <a:t>24</a:t>
            </a:fld>
            <a:endParaRPr lang="en-US" sz="800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b="1" dirty="0" smtClean="0"/>
              <a:t>2.1.4.4  </a:t>
            </a:r>
            <a:r>
              <a:rPr lang="en-US" b="1" dirty="0" err="1" smtClean="0"/>
              <a:t>Parancs</a:t>
            </a:r>
            <a:r>
              <a:rPr lang="en-US" b="1" dirty="0" smtClean="0"/>
              <a:t> </a:t>
            </a:r>
            <a:r>
              <a:rPr lang="en-US" b="1" dirty="0" err="1" smtClean="0"/>
              <a:t>szintaxis</a:t>
            </a:r>
            <a:r>
              <a:rPr lang="en-US" b="1" dirty="0" smtClean="0"/>
              <a:t> </a:t>
            </a:r>
            <a:r>
              <a:rPr lang="en-US" b="1" dirty="0" err="1" smtClean="0"/>
              <a:t>ellenőrzés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286420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264E3AC7-8938-4069-86CB-09214F4A72AF}" type="slidenum">
              <a:rPr lang="en-US" sz="800" smtClean="0"/>
              <a:pPr/>
              <a:t>25</a:t>
            </a:fld>
            <a:endParaRPr lang="en-US" sz="800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2.1.4.5  </a:t>
            </a:r>
            <a:r>
              <a:rPr lang="hu-HU" b="1" dirty="0" smtClean="0"/>
              <a:t>Gyorsbillentyűk és billentyűkombinációk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411053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9E4A5FD-275F-4E74-B23A-F6BFAA7F3175}" type="slidenum">
              <a:rPr lang="en-US" sz="800" smtClean="0"/>
              <a:pPr/>
              <a:t>26</a:t>
            </a:fld>
            <a:endParaRPr lang="en-US" sz="800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2.1.4.6  </a:t>
            </a:r>
            <a:r>
              <a:rPr lang="en-US" b="1" dirty="0" err="1" smtClean="0"/>
              <a:t>Az</a:t>
            </a:r>
            <a:r>
              <a:rPr lang="en-US" b="1" dirty="0" smtClean="0"/>
              <a:t> IOS </a:t>
            </a:r>
            <a:r>
              <a:rPr lang="en-US" b="1" dirty="0" err="1" smtClean="0"/>
              <a:t>állapotvizsgáló</a:t>
            </a:r>
            <a:r>
              <a:rPr lang="en-US" b="1" dirty="0" smtClean="0"/>
              <a:t> </a:t>
            </a:r>
            <a:r>
              <a:rPr lang="en-US" b="1" dirty="0" err="1" smtClean="0"/>
              <a:t>parancsai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970073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25DA474D-EB0C-4E1B-B37E-013475F9CC02}" type="slidenum">
              <a:rPr lang="en-US" sz="800" smtClean="0"/>
              <a:pPr/>
              <a:t>27</a:t>
            </a:fld>
            <a:endParaRPr lang="en-US" sz="800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2.1.4.7  A show version </a:t>
            </a:r>
            <a:r>
              <a:rPr lang="en-US" b="1" dirty="0" err="1" smtClean="0"/>
              <a:t>parancs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67929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29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2.2  </a:t>
            </a:r>
            <a:r>
              <a:rPr lang="en-US" b="1" dirty="0" err="1" smtClean="0"/>
              <a:t>Alapok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24430228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812B710-8E08-410A-8158-B50093F6EED4}" type="slidenum">
              <a:rPr lang="en-US" sz="800" smtClean="0"/>
              <a:pPr/>
              <a:t>30</a:t>
            </a:fld>
            <a:endParaRPr lang="en-US" sz="800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2.2.1.1  </a:t>
            </a:r>
            <a:r>
              <a:rPr lang="en-US" b="1" dirty="0" err="1" smtClean="0"/>
              <a:t>Miért</a:t>
            </a:r>
            <a:r>
              <a:rPr lang="en-US" b="1" dirty="0" smtClean="0"/>
              <a:t> a </a:t>
            </a:r>
            <a:r>
              <a:rPr lang="en-US" b="1" dirty="0" err="1" smtClean="0"/>
              <a:t>kapcsoló</a:t>
            </a:r>
            <a:r>
              <a:rPr lang="en-US" b="1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766599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57FD78B7-608F-4033-9E09-2FDA7DE3A258}" type="slidenum">
              <a:rPr lang="en-US" sz="800" smtClean="0"/>
              <a:pPr/>
              <a:t>31</a:t>
            </a:fld>
            <a:endParaRPr lang="en-US" sz="800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2.2.1.2  </a:t>
            </a:r>
            <a:r>
              <a:rPr lang="en-US" b="1" dirty="0" err="1" smtClean="0"/>
              <a:t>Eszköznevek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9684592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AB9396E-F30B-469C-8AA5-6C194EDEB72C}" type="slidenum">
              <a:rPr lang="en-US" sz="800" smtClean="0"/>
              <a:pPr/>
              <a:t>32</a:t>
            </a:fld>
            <a:endParaRPr lang="en-US" sz="800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2.2.1.3  </a:t>
            </a:r>
            <a:r>
              <a:rPr lang="en-US" b="1" dirty="0" err="1" smtClean="0"/>
              <a:t>Állomásnevek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9749502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755E249-0643-4D1A-8AFF-DBF9A9521951}" type="slidenum">
              <a:rPr lang="en-US" sz="800" smtClean="0"/>
              <a:pPr/>
              <a:t>33</a:t>
            </a:fld>
            <a:endParaRPr lang="en-US" sz="800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2.2.1.4  </a:t>
            </a:r>
            <a:r>
              <a:rPr lang="en-US" b="1" dirty="0" err="1" smtClean="0"/>
              <a:t>Állomásnevek</a:t>
            </a:r>
            <a:r>
              <a:rPr lang="en-US" b="1" dirty="0" smtClean="0"/>
              <a:t> </a:t>
            </a:r>
            <a:r>
              <a:rPr lang="en-US" b="1" dirty="0" err="1" smtClean="0"/>
              <a:t>konfigurálása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0865192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0261872-2F09-4011-9159-28127C9E7A38}" type="slidenum">
              <a:rPr lang="en-US" sz="800" smtClean="0"/>
              <a:pPr/>
              <a:t>34</a:t>
            </a:fld>
            <a:endParaRPr lang="en-US" sz="800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2.2.2.1 A </a:t>
            </a:r>
            <a:r>
              <a:rPr lang="en-US" b="1" dirty="0" err="1" smtClean="0"/>
              <a:t>hozzáférés</a:t>
            </a:r>
            <a:r>
              <a:rPr lang="en-US" b="1" dirty="0" smtClean="0"/>
              <a:t> </a:t>
            </a:r>
            <a:r>
              <a:rPr lang="en-US" b="1" dirty="0" err="1" smtClean="0"/>
              <a:t>biztonságossá</a:t>
            </a:r>
            <a:r>
              <a:rPr lang="en-US" b="1" dirty="0" smtClean="0"/>
              <a:t> </a:t>
            </a:r>
            <a:r>
              <a:rPr lang="en-US" b="1" dirty="0" err="1" smtClean="0"/>
              <a:t>tétele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529182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C712D771-9FE0-468A-819D-6D00FA2FFEA7}" type="slidenum">
              <a:rPr lang="en-US" sz="800" smtClean="0"/>
              <a:pPr/>
              <a:t>35</a:t>
            </a:fld>
            <a:endParaRPr lang="en-US" sz="800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2.2.2.2  </a:t>
            </a:r>
            <a:r>
              <a:rPr lang="pt-BR" b="1" dirty="0" smtClean="0"/>
              <a:t>A privilegizált EXEC mód védelme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610189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14D974D-E990-4EAE-8268-5B881A7998DD}" type="slidenum">
              <a:rPr lang="en-US" sz="800" smtClean="0"/>
              <a:pPr/>
              <a:t>36</a:t>
            </a:fld>
            <a:endParaRPr lang="en-US" sz="800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2.2.2.3  </a:t>
            </a:r>
            <a:r>
              <a:rPr lang="pt-BR" b="1" dirty="0" smtClean="0"/>
              <a:t>A felhasználói EXEC mód védelme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56455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27458188-37E0-4DB4-8346-B6D0EF06E9F8}" type="slidenum">
              <a:rPr lang="en-US" sz="800" smtClean="0"/>
              <a:pPr/>
              <a:t>37</a:t>
            </a:fld>
            <a:endParaRPr lang="en-US" sz="800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2.2.2.4  </a:t>
            </a:r>
            <a:r>
              <a:rPr lang="en-US" b="1" dirty="0" err="1" smtClean="0"/>
              <a:t>Jelszó</a:t>
            </a:r>
            <a:r>
              <a:rPr lang="en-US" b="1" dirty="0" smtClean="0"/>
              <a:t> </a:t>
            </a:r>
            <a:r>
              <a:rPr lang="en-US" b="1" dirty="0" err="1" smtClean="0"/>
              <a:t>titkosítás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840507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7FAC308-A5C7-4F13-8D4E-DC200A3C90B3}" type="slidenum">
              <a:rPr lang="en-US" sz="800" smtClean="0"/>
              <a:pPr/>
              <a:t>38</a:t>
            </a:fld>
            <a:endParaRPr lang="en-US" sz="800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2.2.2.5  Banner </a:t>
            </a:r>
            <a:r>
              <a:rPr lang="en-US" b="1" dirty="0" err="1" smtClean="0"/>
              <a:t>üzenetek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5532160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E58E038E-502A-4475-8F11-6ED9853B189E}" type="slidenum">
              <a:rPr lang="en-US" sz="800" smtClean="0"/>
              <a:pPr/>
              <a:t>39</a:t>
            </a:fld>
            <a:endParaRPr lang="en-US" sz="800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2.2.3.1  </a:t>
            </a:r>
            <a:r>
              <a:rPr lang="en-US" b="1" dirty="0" err="1" smtClean="0"/>
              <a:t>Konfigurációs</a:t>
            </a:r>
            <a:r>
              <a:rPr lang="en-US" b="1" dirty="0" smtClean="0"/>
              <a:t> </a:t>
            </a:r>
            <a:r>
              <a:rPr lang="en-US" b="1" dirty="0" err="1" smtClean="0"/>
              <a:t>fájlok</a:t>
            </a:r>
            <a:endParaRPr lang="en-US" b="1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461299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1433E09D-157D-47A3-A59A-EF241336AF7F}" type="slidenum">
              <a:rPr lang="en-US" sz="800" smtClean="0"/>
              <a:pPr/>
              <a:t>40</a:t>
            </a:fld>
            <a:endParaRPr lang="en-US" sz="800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2.2.3.2  </a:t>
            </a:r>
            <a:r>
              <a:rPr lang="en-US" b="1" dirty="0" err="1" smtClean="0"/>
              <a:t>Szövegek</a:t>
            </a:r>
            <a:r>
              <a:rPr lang="en-US" b="1" dirty="0" smtClean="0"/>
              <a:t> </a:t>
            </a:r>
            <a:r>
              <a:rPr lang="en-US" b="1" dirty="0" err="1" smtClean="0"/>
              <a:t>rögzítése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700612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42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2.3 </a:t>
            </a:r>
            <a:r>
              <a:rPr lang="en-US" b="1" dirty="0" err="1" smtClean="0"/>
              <a:t>Címzési</a:t>
            </a:r>
            <a:r>
              <a:rPr lang="en-US" b="1" dirty="0" smtClean="0"/>
              <a:t> </a:t>
            </a:r>
            <a:r>
              <a:rPr lang="en-US" b="1" dirty="0" err="1" smtClean="0"/>
              <a:t>sémák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15443459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03B8A6C-08C3-437F-A8E2-68431FC0A068}" type="slidenum">
              <a:rPr lang="en-US" sz="800" smtClean="0"/>
              <a:pPr/>
              <a:t>43</a:t>
            </a:fld>
            <a:endParaRPr lang="en-US" sz="800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2.3.1.1  </a:t>
            </a:r>
            <a:r>
              <a:rPr lang="en-US" b="1" dirty="0" err="1" smtClean="0"/>
              <a:t>Eszközök</a:t>
            </a:r>
            <a:r>
              <a:rPr lang="en-US" b="1" dirty="0" smtClean="0"/>
              <a:t> IP-</a:t>
            </a:r>
            <a:r>
              <a:rPr lang="en-US" b="1" dirty="0" err="1" smtClean="0"/>
              <a:t>címzése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0825995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6383EE0-AC4C-40B2-98E4-AE27422FAEE0}" type="slidenum">
              <a:rPr lang="en-US" sz="800" smtClean="0"/>
              <a:pPr/>
              <a:t>44</a:t>
            </a:fld>
            <a:endParaRPr lang="en-US" sz="800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2.3.1.2  </a:t>
            </a:r>
            <a:r>
              <a:rPr lang="en-US" b="1" dirty="0" err="1" smtClean="0"/>
              <a:t>Interfészek</a:t>
            </a:r>
            <a:r>
              <a:rPr lang="en-US" b="1" dirty="0" smtClean="0"/>
              <a:t> </a:t>
            </a:r>
            <a:r>
              <a:rPr lang="en-US" b="1" dirty="0" err="1" smtClean="0"/>
              <a:t>és</a:t>
            </a:r>
            <a:r>
              <a:rPr lang="en-US" b="1" dirty="0" smtClean="0"/>
              <a:t> </a:t>
            </a:r>
            <a:r>
              <a:rPr lang="en-US" b="1" dirty="0" err="1" smtClean="0"/>
              <a:t>portok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08787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666A0B0-5D32-4B7F-AA53-5B118C38BA3B}" type="slidenum">
              <a:rPr lang="en-US" sz="800" smtClean="0"/>
              <a:pPr/>
              <a:t>45</a:t>
            </a:fld>
            <a:endParaRPr lang="en-US" sz="800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2.3.2.1  </a:t>
            </a:r>
            <a:r>
              <a:rPr lang="en-US" b="1" dirty="0" err="1" smtClean="0"/>
              <a:t>Kapcsoló</a:t>
            </a:r>
            <a:r>
              <a:rPr lang="en-US" b="1" dirty="0" smtClean="0"/>
              <a:t> </a:t>
            </a:r>
            <a:r>
              <a:rPr lang="en-US" b="1" dirty="0" err="1" smtClean="0"/>
              <a:t>virtuális</a:t>
            </a:r>
            <a:r>
              <a:rPr lang="en-US" b="1" dirty="0" smtClean="0"/>
              <a:t> </a:t>
            </a:r>
            <a:r>
              <a:rPr lang="en-US" b="1" dirty="0" err="1" smtClean="0"/>
              <a:t>interfészének</a:t>
            </a:r>
            <a:r>
              <a:rPr lang="en-US" b="1" dirty="0" smtClean="0"/>
              <a:t> (SVI) </a:t>
            </a:r>
            <a:r>
              <a:rPr lang="en-US" b="1" dirty="0" err="1" smtClean="0"/>
              <a:t>konfigurálása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09047071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666A0B0-5D32-4B7F-AA53-5B118C38BA3B}" type="slidenum">
              <a:rPr lang="en-US" sz="800" smtClean="0"/>
              <a:pPr/>
              <a:t>46</a:t>
            </a:fld>
            <a:endParaRPr lang="en-US" sz="800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2.3.2.1  </a:t>
            </a:r>
            <a:r>
              <a:rPr lang="en-US" b="1" dirty="0" err="1" smtClean="0"/>
              <a:t>Kapcsoló</a:t>
            </a:r>
            <a:r>
              <a:rPr lang="en-US" b="1" dirty="0" smtClean="0"/>
              <a:t> </a:t>
            </a:r>
            <a:r>
              <a:rPr lang="en-US" b="1" dirty="0" err="1" smtClean="0"/>
              <a:t>virtuális</a:t>
            </a:r>
            <a:r>
              <a:rPr lang="en-US" b="1" dirty="0" smtClean="0"/>
              <a:t> </a:t>
            </a:r>
            <a:r>
              <a:rPr lang="en-US" b="1" dirty="0" err="1" smtClean="0"/>
              <a:t>interfészének</a:t>
            </a:r>
            <a:r>
              <a:rPr lang="en-US" b="1" dirty="0" smtClean="0"/>
              <a:t> (SVI) </a:t>
            </a:r>
            <a:r>
              <a:rPr lang="en-US" b="1" dirty="0" err="1" smtClean="0"/>
              <a:t>konfigurálása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343582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F24AF3D-99C7-41AF-B037-BDBA633C385C}" type="slidenum">
              <a:rPr lang="en-US" sz="800" smtClean="0"/>
              <a:pPr/>
              <a:t>47</a:t>
            </a:fld>
            <a:endParaRPr lang="en-US" sz="800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2.3.2.2  </a:t>
            </a:r>
            <a:r>
              <a:rPr lang="en-US" b="1" dirty="0" err="1" smtClean="0"/>
              <a:t>Manuális</a:t>
            </a:r>
            <a:r>
              <a:rPr lang="en-US" b="1" dirty="0" smtClean="0"/>
              <a:t> IP-</a:t>
            </a:r>
            <a:r>
              <a:rPr lang="en-US" b="1" dirty="0" err="1" smtClean="0"/>
              <a:t>cím</a:t>
            </a:r>
            <a:r>
              <a:rPr lang="en-US" b="1" dirty="0" smtClean="0"/>
              <a:t> </a:t>
            </a:r>
            <a:r>
              <a:rPr lang="en-US" b="1" dirty="0" err="1" smtClean="0"/>
              <a:t>konfiguráció</a:t>
            </a:r>
            <a:r>
              <a:rPr lang="en-US" b="1" dirty="0" smtClean="0"/>
              <a:t> </a:t>
            </a:r>
            <a:r>
              <a:rPr lang="en-US" b="1" dirty="0" err="1" smtClean="0"/>
              <a:t>végberendezéseken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11685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3374F77-965F-4181-8905-DF6E854EF623}" type="slidenum">
              <a:rPr lang="en-US" sz="800" smtClean="0"/>
              <a:pPr/>
              <a:t>48</a:t>
            </a:fld>
            <a:endParaRPr lang="en-US" sz="800" smtClean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2.3.2.3  </a:t>
            </a:r>
            <a:r>
              <a:rPr lang="en-US" b="1" dirty="0" err="1" smtClean="0"/>
              <a:t>Automatikus</a:t>
            </a:r>
            <a:r>
              <a:rPr lang="en-US" b="1" dirty="0" smtClean="0"/>
              <a:t> IP-</a:t>
            </a:r>
            <a:r>
              <a:rPr lang="en-US" b="1" dirty="0" err="1" smtClean="0"/>
              <a:t>cím</a:t>
            </a:r>
            <a:r>
              <a:rPr lang="en-US" b="1" dirty="0" smtClean="0"/>
              <a:t> </a:t>
            </a:r>
            <a:r>
              <a:rPr lang="en-US" b="1" dirty="0" err="1" smtClean="0"/>
              <a:t>konfiguráció</a:t>
            </a:r>
            <a:r>
              <a:rPr lang="en-US" b="1" dirty="0" smtClean="0"/>
              <a:t> </a:t>
            </a:r>
            <a:r>
              <a:rPr lang="en-US" b="1" dirty="0" err="1" smtClean="0"/>
              <a:t>végberendezéseken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7653233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16510CD-B5CB-4E4B-A24D-F6CDE6775E97}" type="slidenum">
              <a:rPr lang="en-US" sz="800" smtClean="0"/>
              <a:pPr/>
              <a:t>49</a:t>
            </a:fld>
            <a:endParaRPr lang="en-US" sz="800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2.3.2.4  IP-</a:t>
            </a:r>
            <a:r>
              <a:rPr lang="en-US" b="1" dirty="0" err="1" smtClean="0"/>
              <a:t>cím</a:t>
            </a:r>
            <a:r>
              <a:rPr lang="en-US" b="1" dirty="0" smtClean="0"/>
              <a:t> </a:t>
            </a:r>
            <a:r>
              <a:rPr lang="en-US" b="1" dirty="0" err="1" smtClean="0"/>
              <a:t>ütközések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942282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59BC0321-1363-4581-A297-B506C109659D}" type="slidenum">
              <a:rPr lang="en-US" sz="800" smtClean="0"/>
              <a:pPr/>
              <a:t>50</a:t>
            </a:fld>
            <a:endParaRPr lang="en-US" sz="800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2.3.3.1  A </a:t>
            </a:r>
            <a:r>
              <a:rPr lang="en-US" b="1" dirty="0" err="1" smtClean="0"/>
              <a:t>visszacsatolási</a:t>
            </a:r>
            <a:r>
              <a:rPr lang="en-US" b="1" dirty="0" smtClean="0"/>
              <a:t> </a:t>
            </a:r>
            <a:r>
              <a:rPr lang="en-US" b="1" dirty="0" err="1" smtClean="0"/>
              <a:t>cím</a:t>
            </a:r>
            <a:r>
              <a:rPr lang="en-US" b="1" dirty="0" smtClean="0"/>
              <a:t> </a:t>
            </a:r>
            <a:r>
              <a:rPr lang="en-US" b="1" dirty="0" err="1" smtClean="0"/>
              <a:t>tesztelése</a:t>
            </a:r>
            <a:r>
              <a:rPr lang="en-US" b="1" dirty="0" smtClean="0"/>
              <a:t> </a:t>
            </a:r>
            <a:r>
              <a:rPr lang="en-US" b="1" dirty="0" err="1" smtClean="0"/>
              <a:t>végberendezéseken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4447459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46E81B8B-552A-4984-BF7A-529D9DED2D42}" type="slidenum">
              <a:rPr lang="en-US" sz="800" smtClean="0"/>
              <a:pPr/>
              <a:t>51</a:t>
            </a:fld>
            <a:endParaRPr lang="en-US" sz="800" smtClean="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2.3.3.2  </a:t>
            </a:r>
            <a:r>
              <a:rPr lang="en-US" b="1" dirty="0" err="1" smtClean="0"/>
              <a:t>Az</a:t>
            </a:r>
            <a:r>
              <a:rPr lang="en-US" b="1" dirty="0" smtClean="0"/>
              <a:t> </a:t>
            </a:r>
            <a:r>
              <a:rPr lang="en-US" b="1" dirty="0" err="1" smtClean="0"/>
              <a:t>interfész</a:t>
            </a:r>
            <a:r>
              <a:rPr lang="en-US" b="1" dirty="0" smtClean="0"/>
              <a:t> </a:t>
            </a:r>
            <a:r>
              <a:rPr lang="en-US" b="1" dirty="0" err="1" smtClean="0"/>
              <a:t>tesztelése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3376397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D6232D7-9239-4797-AB16-3155FFDCAE61}" type="slidenum">
              <a:rPr lang="en-US" sz="800" smtClean="0"/>
              <a:pPr/>
              <a:t>52</a:t>
            </a:fld>
            <a:endParaRPr lang="en-US" sz="800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/>
              <a:t>2.3.3.3  A </a:t>
            </a:r>
            <a:r>
              <a:rPr lang="en-US" b="1" dirty="0" err="1" smtClean="0"/>
              <a:t>végponttól</a:t>
            </a:r>
            <a:r>
              <a:rPr lang="en-US" b="1" dirty="0" smtClean="0"/>
              <a:t> </a:t>
            </a:r>
            <a:r>
              <a:rPr lang="en-US" b="1" dirty="0" err="1" smtClean="0"/>
              <a:t>végpontig</a:t>
            </a:r>
            <a:r>
              <a:rPr lang="en-US" b="1" dirty="0" smtClean="0"/>
              <a:t> </a:t>
            </a:r>
            <a:r>
              <a:rPr lang="en-US" b="1" dirty="0" err="1" smtClean="0"/>
              <a:t>tartó</a:t>
            </a:r>
            <a:r>
              <a:rPr lang="en-US" b="1" dirty="0" smtClean="0"/>
              <a:t> </a:t>
            </a:r>
            <a:r>
              <a:rPr lang="en-US" b="1" dirty="0" err="1" smtClean="0"/>
              <a:t>kapcsolat</a:t>
            </a:r>
            <a:r>
              <a:rPr lang="en-US" b="1" dirty="0" smtClean="0"/>
              <a:t> </a:t>
            </a:r>
            <a:r>
              <a:rPr lang="en-US" b="1" dirty="0" err="1" smtClean="0"/>
              <a:t>tesztelése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7835736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20AEEC5-A004-4B7F-B9E7-59DCF7C262D4}" type="slidenum">
              <a:rPr lang="en-US" sz="800" smtClean="0"/>
              <a:pPr/>
              <a:t>54</a:t>
            </a:fld>
            <a:endParaRPr lang="en-US" sz="800" smtClean="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smtClean="0"/>
              <a:t>2.4.1.3  Összefoglalás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7355924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C531AE30-3927-4645-BAFD-BEB511141A19}" type="slidenum">
              <a:rPr lang="en-US" sz="800" smtClean="0"/>
              <a:pPr/>
              <a:t>55</a:t>
            </a:fld>
            <a:endParaRPr lang="en-US" sz="800" smtClean="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smtClean="0"/>
              <a:t>2.4.1.3  Összefoglalás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3216010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9CF76C84-4A22-4E88-BD81-FBE794FAA44F}" type="slidenum">
              <a:rPr lang="en-US" sz="800" smtClean="0"/>
              <a:pPr/>
              <a:t>56</a:t>
            </a:fld>
            <a:endParaRPr lang="en-US" sz="800" smtClean="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smtClean="0"/>
              <a:t>2.4.1.3  Összefoglalás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1959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14175902-A877-41A6-8074-EFDE366EA7FD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0693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2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44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8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6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06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5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704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40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2622785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5303E40A-7AD1-4156-8827-744348D394CD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67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29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580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35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51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33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3391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4980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660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784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2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24BAFCA-80F5-44F5-A63D-77FAB14221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  <p:sldLayoutId id="21474842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42011E6B-2554-42D5-A2AE-B128CF7FCF5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56" r:id="rId1"/>
    <p:sldLayoutId id="2147484245" r:id="rId2"/>
    <p:sldLayoutId id="2147484246" r:id="rId3"/>
    <p:sldLayoutId id="2147484247" r:id="rId4"/>
    <p:sldLayoutId id="2147484248" r:id="rId5"/>
    <p:sldLayoutId id="2147484249" r:id="rId6"/>
    <p:sldLayoutId id="2147484250" r:id="rId7"/>
    <p:sldLayoutId id="2147484251" r:id="rId8"/>
    <p:sldLayoutId id="2147484252" r:id="rId9"/>
    <p:sldLayoutId id="2147484253" r:id="rId10"/>
    <p:sldLayoutId id="21474842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sco.com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smtClean="0"/>
              <a:t>6. óra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887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dirty="0" smtClean="0"/>
              <a:t>2. </a:t>
            </a:r>
            <a:r>
              <a:rPr lang="en-US" sz="2800" dirty="0" err="1" smtClean="0"/>
              <a:t>fejezet</a:t>
            </a:r>
            <a:r>
              <a:rPr lang="en-US" sz="2800" dirty="0" smtClean="0"/>
              <a:t>:</a:t>
            </a:r>
            <a:br>
              <a:rPr lang="en-US" sz="2800" dirty="0" smtClean="0"/>
            </a:br>
            <a:r>
              <a:rPr lang="en-US" sz="2800" dirty="0" err="1" smtClean="0"/>
              <a:t>Hálózati</a:t>
            </a:r>
            <a:r>
              <a:rPr lang="en-US" sz="2800" dirty="0" smtClean="0"/>
              <a:t> </a:t>
            </a:r>
            <a:r>
              <a:rPr lang="en-US" sz="2800" dirty="0" err="1" smtClean="0"/>
              <a:t>operációs</a:t>
            </a:r>
            <a:r>
              <a:rPr lang="en-US" sz="2800" dirty="0" smtClean="0"/>
              <a:t> </a:t>
            </a:r>
            <a:r>
              <a:rPr lang="en-US" sz="2800" dirty="0" err="1" smtClean="0"/>
              <a:t>rendszer</a:t>
            </a:r>
            <a:r>
              <a:rPr lang="en-US" sz="2800" dirty="0" smtClean="0"/>
              <a:t> </a:t>
            </a:r>
            <a:r>
              <a:rPr lang="en-US" sz="2800" dirty="0" err="1" smtClean="0"/>
              <a:t>konfigurálása</a:t>
            </a:r>
            <a:endParaRPr lang="en-US" sz="2800" dirty="0" smtClean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n-US" sz="2400" dirty="0" err="1" smtClean="0"/>
              <a:t>Bevezetés</a:t>
            </a:r>
            <a:r>
              <a:rPr lang="en-US" sz="2400" dirty="0" smtClean="0"/>
              <a:t> a </a:t>
            </a:r>
            <a:r>
              <a:rPr lang="en-US" sz="2400" dirty="0" err="1" smtClean="0"/>
              <a:t>hálózatok</a:t>
            </a:r>
            <a:r>
              <a:rPr lang="en-US" sz="2400" dirty="0" smtClean="0"/>
              <a:t> </a:t>
            </a:r>
            <a:r>
              <a:rPr lang="en-US" sz="2400" dirty="0" err="1" smtClean="0"/>
              <a:t>világába</a:t>
            </a:r>
            <a:endParaRPr lang="en-US" sz="2400" dirty="0" smtClean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7468" y="439122"/>
            <a:ext cx="8145462" cy="838200"/>
          </a:xfrm>
        </p:spPr>
        <p:txBody>
          <a:bodyPr/>
          <a:lstStyle/>
          <a:p>
            <a:pPr eaLnBrk="1" hangingPunct="1"/>
            <a:r>
              <a:rPr lang="hu-HU" dirty="0" smtClean="0">
                <a:ea typeface="ＭＳ Ｐゴシック" pitchFamily="34" charset="-128"/>
              </a:rPr>
              <a:t>Témakörök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2111" y="1363286"/>
            <a:ext cx="8256894" cy="503751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hu-HU" sz="2000" dirty="0"/>
              <a:t>A fejezet elvégzését követően a diákok tisztában lesznek a következő fogalmakkal:</a:t>
            </a:r>
          </a:p>
          <a:p>
            <a:r>
              <a:rPr lang="en-CA" sz="2000" dirty="0" smtClean="0"/>
              <a:t>Cisco IOS</a:t>
            </a:r>
            <a:endParaRPr lang="en-CA" sz="2000" dirty="0"/>
          </a:p>
          <a:p>
            <a:r>
              <a:rPr lang="hu-HU" sz="2000" dirty="0" smtClean="0"/>
              <a:t>A Cisco IOS elérése és használata egy hálózati eszköz konfigurálásához.</a:t>
            </a:r>
          </a:p>
          <a:p>
            <a:r>
              <a:rPr lang="en-CA" sz="2000" dirty="0" smtClean="0"/>
              <a:t>A </a:t>
            </a:r>
            <a:r>
              <a:rPr lang="hu-HU" sz="2000" dirty="0" smtClean="0"/>
              <a:t>Cisco IOS </a:t>
            </a:r>
            <a:r>
              <a:rPr lang="en-CA" sz="2000" dirty="0" err="1" smtClean="0"/>
              <a:t>parancsok</a:t>
            </a:r>
            <a:r>
              <a:rPr lang="en-CA" sz="2000" dirty="0" smtClean="0"/>
              <a:t> </a:t>
            </a:r>
            <a:r>
              <a:rPr lang="en-CA" sz="2000" dirty="0" err="1" smtClean="0"/>
              <a:t>felépítése</a:t>
            </a:r>
            <a:endParaRPr lang="en-CA" sz="2000" dirty="0"/>
          </a:p>
          <a:p>
            <a:r>
              <a:rPr lang="en-CA" sz="2000" dirty="0" err="1" smtClean="0"/>
              <a:t>Állomás</a:t>
            </a:r>
            <a:r>
              <a:rPr lang="hu-HU" sz="2000" dirty="0" smtClean="0"/>
              <a:t> </a:t>
            </a:r>
            <a:r>
              <a:rPr lang="en-CA" sz="2000" dirty="0" err="1" smtClean="0"/>
              <a:t>nev</a:t>
            </a:r>
            <a:r>
              <a:rPr lang="hu-HU" sz="2000" dirty="0" smtClean="0"/>
              <a:t>éne</a:t>
            </a:r>
            <a:r>
              <a:rPr lang="en-CA" sz="2000" dirty="0" smtClean="0"/>
              <a:t>k </a:t>
            </a:r>
            <a:r>
              <a:rPr lang="hu-HU" sz="2000" dirty="0" smtClean="0"/>
              <a:t>megadása parancssorban</a:t>
            </a:r>
            <a:endParaRPr lang="en-CA" sz="2000" dirty="0"/>
          </a:p>
          <a:p>
            <a:r>
              <a:rPr lang="hu-HU" sz="2000" dirty="0" smtClean="0"/>
              <a:t>Az eszközkonfiguráció korlátozása </a:t>
            </a:r>
            <a:r>
              <a:rPr lang="en-CA" sz="2000" dirty="0" smtClean="0"/>
              <a:t>Cisco </a:t>
            </a:r>
            <a:r>
              <a:rPr lang="en-CA" sz="2000" dirty="0"/>
              <a:t>IOS </a:t>
            </a:r>
            <a:r>
              <a:rPr lang="hu-HU" sz="2000" dirty="0" smtClean="0"/>
              <a:t>parancsokkal</a:t>
            </a:r>
            <a:endParaRPr lang="en-CA" sz="2000" dirty="0"/>
          </a:p>
          <a:p>
            <a:r>
              <a:rPr lang="hu-HU" sz="2000" dirty="0" smtClean="0"/>
              <a:t>Az aktív konfiguráció elmentése</a:t>
            </a:r>
            <a:endParaRPr lang="en-CA" sz="2000" dirty="0"/>
          </a:p>
          <a:p>
            <a:r>
              <a:rPr lang="hu-HU" sz="2000" dirty="0" smtClean="0"/>
              <a:t>Hálózati kommunikáció az átviteli közegen</a:t>
            </a:r>
            <a:endParaRPr lang="en-CA" sz="2000" dirty="0"/>
          </a:p>
          <a:p>
            <a:r>
              <a:rPr lang="hu-HU" sz="2000" dirty="0" smtClean="0"/>
              <a:t>Eszköz IP-címének megadása</a:t>
            </a:r>
          </a:p>
          <a:p>
            <a:r>
              <a:rPr lang="hu-HU" sz="2000" dirty="0" smtClean="0"/>
              <a:t>Eszközök közötti kapcsolat ellenőrzése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7468" y="452769"/>
            <a:ext cx="8145462" cy="838200"/>
          </a:xfrm>
        </p:spPr>
        <p:txBody>
          <a:bodyPr/>
          <a:lstStyle/>
          <a:p>
            <a:pPr eaLnBrk="1" hangingPunct="1"/>
            <a:r>
              <a:rPr lang="hu-HU" dirty="0" smtClean="0">
                <a:ea typeface="ＭＳ Ｐゴシック" pitchFamily="34" charset="-128"/>
              </a:rPr>
              <a:t>Tartalomjegyzék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501186" y="1642731"/>
            <a:ext cx="8131175" cy="4437062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2.0  </a:t>
            </a:r>
            <a:r>
              <a:rPr lang="en-US" sz="2000" dirty="0" err="1" smtClean="0">
                <a:cs typeface="Arial" charset="0"/>
              </a:rPr>
              <a:t>Bevezetés</a:t>
            </a:r>
            <a:endParaRPr lang="en-US" sz="2000" dirty="0" smtClean="0">
              <a:cs typeface="Arial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2.1  IOS </a:t>
            </a:r>
            <a:r>
              <a:rPr lang="en-US" sz="2000" dirty="0" err="1" smtClean="0">
                <a:cs typeface="Arial" charset="0"/>
              </a:rPr>
              <a:t>alapképzés</a:t>
            </a:r>
            <a:endParaRPr lang="en-US" sz="2000" dirty="0" smtClean="0">
              <a:cs typeface="Arial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2.2  </a:t>
            </a:r>
            <a:r>
              <a:rPr lang="en-US" sz="2000" dirty="0" err="1" smtClean="0">
                <a:cs typeface="Arial" charset="0"/>
              </a:rPr>
              <a:t>Alapok</a:t>
            </a:r>
            <a:endParaRPr lang="en-US" sz="2000" dirty="0" smtClean="0">
              <a:cs typeface="Arial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2.3  </a:t>
            </a:r>
            <a:r>
              <a:rPr lang="en-US" sz="2000" dirty="0" err="1" smtClean="0">
                <a:cs typeface="Arial" charset="0"/>
              </a:rPr>
              <a:t>Címzési</a:t>
            </a:r>
            <a:r>
              <a:rPr lang="en-US" sz="2000" dirty="0" smtClean="0">
                <a:cs typeface="Arial" charset="0"/>
              </a:rPr>
              <a:t> </a:t>
            </a:r>
            <a:r>
              <a:rPr lang="en-US" sz="2000" dirty="0" err="1" smtClean="0">
                <a:cs typeface="Arial" charset="0"/>
              </a:rPr>
              <a:t>sémák</a:t>
            </a:r>
            <a:endParaRPr lang="en-US" sz="2000" dirty="0" smtClean="0">
              <a:cs typeface="Arial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2.4  </a:t>
            </a:r>
            <a:r>
              <a:rPr lang="en-US" sz="2000" dirty="0" err="1" smtClean="0">
                <a:cs typeface="Arial" charset="0"/>
              </a:rPr>
              <a:t>Összefoglalás</a:t>
            </a:r>
            <a:endParaRPr lang="en-US" sz="2000" dirty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/>
              <a:t>2.1  </a:t>
            </a:r>
            <a:r>
              <a:rPr lang="en-US" sz="2400" dirty="0" smtClean="0"/>
              <a:t>IOS </a:t>
            </a:r>
            <a:r>
              <a:rPr lang="en-US" sz="2400" dirty="0" err="1" smtClean="0"/>
              <a:t>alapképzés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9200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48907" y="478477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Cisco IOS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Operációs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rendszerek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494397" y="1552575"/>
            <a:ext cx="8204200" cy="500062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A végberendezések és a </a:t>
            </a:r>
            <a:r>
              <a:rPr lang="hu-HU" sz="2000" dirty="0"/>
              <a:t>hálózati eszközök operációs rendszer segítségével hajtják végre feladataikat</a:t>
            </a:r>
            <a:r>
              <a:rPr lang="hu-HU" sz="2000" dirty="0" smtClean="0"/>
              <a:t>.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en-US" sz="2000" dirty="0" err="1"/>
              <a:t>Az</a:t>
            </a:r>
            <a:r>
              <a:rPr lang="en-US" sz="2000" dirty="0"/>
              <a:t> </a:t>
            </a:r>
            <a:r>
              <a:rPr lang="en-US" sz="2000" dirty="0" err="1"/>
              <a:t>otthoni</a:t>
            </a:r>
            <a:r>
              <a:rPr lang="en-US" sz="2000" dirty="0"/>
              <a:t> </a:t>
            </a:r>
            <a:r>
              <a:rPr lang="en-US" sz="2000" dirty="0" err="1"/>
              <a:t>forgalomirányítók</a:t>
            </a:r>
            <a:r>
              <a:rPr lang="en-US" sz="2000" dirty="0"/>
              <a:t> </a:t>
            </a:r>
            <a:r>
              <a:rPr lang="en-US" sz="2000" dirty="0" err="1"/>
              <a:t>operációs</a:t>
            </a:r>
            <a:r>
              <a:rPr lang="en-US" sz="2000" dirty="0"/>
              <a:t> </a:t>
            </a:r>
            <a:r>
              <a:rPr lang="en-US" sz="2000" dirty="0" err="1"/>
              <a:t>rendszerét</a:t>
            </a:r>
            <a:r>
              <a:rPr lang="en-US" sz="2000" dirty="0"/>
              <a:t> </a:t>
            </a:r>
            <a:r>
              <a:rPr lang="en-US" sz="2000" dirty="0" err="1"/>
              <a:t>rendszerint</a:t>
            </a:r>
            <a:r>
              <a:rPr lang="en-US" sz="2000" dirty="0"/>
              <a:t> firmware-</a:t>
            </a:r>
            <a:r>
              <a:rPr lang="en-US" sz="2000" dirty="0" err="1"/>
              <a:t>nek</a:t>
            </a:r>
            <a:r>
              <a:rPr lang="en-US" sz="2000" dirty="0"/>
              <a:t> </a:t>
            </a:r>
            <a:r>
              <a:rPr lang="en-US" sz="2000" dirty="0" err="1" smtClean="0"/>
              <a:t>nevezik</a:t>
            </a:r>
            <a:r>
              <a:rPr lang="hu-HU" sz="2000" dirty="0" smtClean="0"/>
              <a:t>.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/>
              <a:t>A Cisco eszközök hálózati operációs rendszerének neve IOS (</a:t>
            </a:r>
            <a:r>
              <a:rPr lang="hu-HU" sz="2000" dirty="0" err="1"/>
              <a:t>Internetwork</a:t>
            </a:r>
            <a:r>
              <a:rPr lang="hu-HU" sz="2000" dirty="0"/>
              <a:t> </a:t>
            </a:r>
            <a:r>
              <a:rPr lang="hu-HU" sz="2000" dirty="0" err="1"/>
              <a:t>Operating</a:t>
            </a:r>
            <a:r>
              <a:rPr lang="hu-HU" sz="2000" dirty="0"/>
              <a:t> System</a:t>
            </a:r>
            <a:r>
              <a:rPr lang="hu-HU" sz="2000" dirty="0" smtClean="0"/>
              <a:t>).</a:t>
            </a:r>
            <a:endParaRPr lang="en-US" altLang="ja-JP" sz="2000" dirty="0">
              <a:ea typeface="ＭＳ Ｐゴシック" charset="-128"/>
            </a:endParaRPr>
          </a:p>
          <a:p>
            <a:pPr marL="0" indent="0" eaLnBrk="1" hangingPunct="1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ja-JP" sz="2000" dirty="0" smtClean="0">
              <a:ea typeface="ＭＳ Ｐゴシック" charset="-128"/>
            </a:endParaRPr>
          </a:p>
          <a:p>
            <a:pPr eaLnBrk="1" hangingPunct="1">
              <a:lnSpc>
                <a:spcPct val="75000"/>
              </a:lnSpc>
              <a:defRPr/>
            </a:pPr>
            <a:endParaRPr lang="en-US" altLang="ja-JP" sz="2000" dirty="0" smtClean="0">
              <a:ea typeface="ＭＳ Ｐゴシック" charset="-128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198" y="4052887"/>
            <a:ext cx="5536597" cy="246029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47429" y="468110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Cisco IOS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Operációs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rendszerek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(</a:t>
            </a:r>
            <a:r>
              <a:rPr lang="hu-HU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folytatás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)</a:t>
            </a:r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6"/>
          <a:stretch/>
        </p:blipFill>
        <p:spPr bwMode="auto">
          <a:xfrm>
            <a:off x="377825" y="1431817"/>
            <a:ext cx="4992688" cy="417999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9"/>
          <a:stretch/>
        </p:blipFill>
        <p:spPr bwMode="auto">
          <a:xfrm>
            <a:off x="3233738" y="6145481"/>
            <a:ext cx="5630862" cy="49979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8"/>
          <a:stretch/>
        </p:blipFill>
        <p:spPr bwMode="auto">
          <a:xfrm>
            <a:off x="2435225" y="5474525"/>
            <a:ext cx="5591175" cy="6024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68860" y="496888"/>
            <a:ext cx="8145463" cy="838200"/>
          </a:xfrm>
        </p:spPr>
        <p:txBody>
          <a:bodyPr/>
          <a:lstStyle/>
          <a:p>
            <a:r>
              <a:rPr lang="en-US" sz="1800" dirty="0" smtClean="0">
                <a:cs typeface="Arial" pitchFamily="34" charset="0"/>
              </a:rPr>
              <a:t>Cisco IOS</a:t>
            </a:r>
            <a:r>
              <a:rPr lang="en-US" dirty="0" smtClean="0">
                <a:cs typeface="Arial" pitchFamily="34" charset="0"/>
              </a:rPr>
              <a:t/>
            </a:r>
            <a:br>
              <a:rPr lang="en-US" dirty="0" smtClean="0">
                <a:cs typeface="Arial" pitchFamily="34" charset="0"/>
              </a:rPr>
            </a:br>
            <a:r>
              <a:rPr lang="hu-HU" dirty="0"/>
              <a:t>Az IOS célja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idx="1"/>
          </p:nvPr>
        </p:nvSpPr>
        <p:spPr>
          <a:xfrm>
            <a:off x="430306" y="1654629"/>
            <a:ext cx="8312057" cy="4847117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A </a:t>
            </a:r>
            <a:r>
              <a:rPr lang="hu-HU" sz="2000" dirty="0"/>
              <a:t>PC-s operációs </a:t>
            </a:r>
            <a:r>
              <a:rPr lang="hu-HU" sz="2000" dirty="0" smtClean="0"/>
              <a:t>rendszerek alapvető funkciói</a:t>
            </a:r>
            <a:r>
              <a:rPr lang="en-US" altLang="ja-JP" sz="2000" dirty="0" smtClean="0">
                <a:ea typeface="ＭＳ Ｐゴシック" charset="-128"/>
                <a:cs typeface="Arial" pitchFamily="34" charset="0"/>
              </a:rPr>
              <a:t>: </a:t>
            </a:r>
          </a:p>
          <a:p>
            <a:pPr marL="800100" lvl="1" indent="-342900" eaLnBrk="1" hangingPunct="1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hu-HU" dirty="0">
                <a:ea typeface="ＭＳ Ｐゴシック" charset="-128"/>
                <a:cs typeface="Arial" pitchFamily="34" charset="0"/>
              </a:rPr>
              <a:t>egér használata,</a:t>
            </a:r>
          </a:p>
          <a:p>
            <a:pPr marL="800100" lvl="1" indent="-342900" eaLnBrk="1" hangingPunct="1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hu-HU" dirty="0">
                <a:ea typeface="ＭＳ Ｐゴシック" charset="-128"/>
                <a:cs typeface="Arial" pitchFamily="34" charset="0"/>
              </a:rPr>
              <a:t>monitoron való megjelenítés,</a:t>
            </a:r>
          </a:p>
          <a:p>
            <a:pPr marL="800100" lvl="1" indent="-342900" eaLnBrk="1" hangingPunct="1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hu-HU" dirty="0">
                <a:ea typeface="ＭＳ Ｐゴシック" charset="-128"/>
                <a:cs typeface="Arial" pitchFamily="34" charset="0"/>
              </a:rPr>
              <a:t>szöveges parancsok bevitele,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Kapcsoló vagy</a:t>
            </a:r>
            <a:r>
              <a:rPr lang="en-US" altLang="ja-JP" sz="2000" dirty="0" smtClean="0">
                <a:ea typeface="ＭＳ Ｐゴシック" charset="-128"/>
                <a:cs typeface="Arial" pitchFamily="34" charset="0"/>
              </a:rPr>
              <a:t> </a:t>
            </a: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forgalomirányító </a:t>
            </a:r>
            <a:r>
              <a:rPr lang="en-US" altLang="ja-JP" sz="2000" dirty="0" smtClean="0">
                <a:ea typeface="ＭＳ Ｐゴシック" charset="-128"/>
                <a:cs typeface="Arial" pitchFamily="34" charset="0"/>
              </a:rPr>
              <a:t>IOS </a:t>
            </a: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funkciói</a:t>
            </a:r>
            <a:r>
              <a:rPr lang="en-US" altLang="ja-JP" sz="2000" dirty="0" smtClean="0">
                <a:ea typeface="ＭＳ Ｐゴシック" charset="-128"/>
                <a:cs typeface="Arial" pitchFamily="34" charset="0"/>
              </a:rPr>
              <a:t>: </a:t>
            </a:r>
          </a:p>
          <a:p>
            <a:pPr marL="800100" lvl="1" indent="-342900" eaLnBrk="1" hangingPunct="1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hu-HU" altLang="ja-JP" dirty="0" smtClean="0">
                <a:ea typeface="ＭＳ Ｐゴシック" charset="-128"/>
                <a:cs typeface="Arial" pitchFamily="34" charset="0"/>
              </a:rPr>
              <a:t>interfész konfigurálás</a:t>
            </a:r>
            <a:endParaRPr lang="en-US" altLang="ja-JP" dirty="0" smtClean="0">
              <a:ea typeface="ＭＳ Ｐゴシック" charset="-128"/>
              <a:cs typeface="Arial" pitchFamily="34" charset="0"/>
            </a:endParaRPr>
          </a:p>
          <a:p>
            <a:pPr marL="800100" lvl="1" indent="-342900" eaLnBrk="1" hangingPunct="1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hu-HU" altLang="ja-JP" dirty="0" smtClean="0">
                <a:ea typeface="ＭＳ Ｐゴシック" charset="-128"/>
                <a:cs typeface="Arial" pitchFamily="34" charset="0"/>
              </a:rPr>
              <a:t>forgalomirányítás és kapcsolás konfigurálása</a:t>
            </a:r>
            <a:endParaRPr lang="en-US" altLang="ja-JP" dirty="0" smtClean="0">
              <a:ea typeface="ＭＳ Ｐゴシック" charset="-128"/>
              <a:cs typeface="Arial" pitchFamily="34" charset="0"/>
            </a:endParaRP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Az összes </a:t>
            </a:r>
            <a:r>
              <a:rPr lang="hu-HU" sz="2000" dirty="0"/>
              <a:t>eszköz alap </a:t>
            </a:r>
            <a:r>
              <a:rPr lang="hu-HU" sz="2000" dirty="0" err="1"/>
              <a:t>IOS-szel</a:t>
            </a:r>
            <a:r>
              <a:rPr lang="hu-HU" sz="2000" dirty="0"/>
              <a:t> és szolgáltatáskészlettel kerül </a:t>
            </a:r>
            <a:r>
              <a:rPr lang="hu-HU" sz="2000" dirty="0" smtClean="0"/>
              <a:t>forgalomba.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/>
              <a:t>L</a:t>
            </a:r>
            <a:r>
              <a:rPr lang="hu-HU" sz="2000" dirty="0" smtClean="0"/>
              <a:t>ehetőség </a:t>
            </a:r>
            <a:r>
              <a:rPr lang="hu-HU" sz="2000" dirty="0"/>
              <a:t>van </a:t>
            </a:r>
            <a:r>
              <a:rPr lang="hu-HU" sz="2000" dirty="0" smtClean="0"/>
              <a:t>az </a:t>
            </a:r>
            <a:r>
              <a:rPr lang="hu-HU" sz="2000" dirty="0"/>
              <a:t>IOS verzió vagy a szolgáltatáskészlet cseréjére</a:t>
            </a:r>
            <a:r>
              <a:rPr lang="hu-HU" sz="2000" dirty="0" smtClean="0"/>
              <a:t>.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Ez </a:t>
            </a:r>
            <a:r>
              <a:rPr lang="hu-HU" sz="2000" dirty="0"/>
              <a:t>a kurzus elsősorban a Cisco IOS </a:t>
            </a:r>
            <a:r>
              <a:rPr lang="hu-HU" sz="2000" dirty="0" err="1"/>
              <a:t>Release</a:t>
            </a:r>
            <a:r>
              <a:rPr lang="hu-HU" sz="2000" dirty="0"/>
              <a:t> 15.x használatára összpontosít. </a:t>
            </a:r>
            <a:endParaRPr lang="en-US" altLang="ja-JP" sz="2000" dirty="0" smtClean="0">
              <a:ea typeface="ＭＳ Ｐゴシック" charset="-128"/>
              <a:cs typeface="Arial" pitchFamily="34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6555" y="428852"/>
            <a:ext cx="8145463" cy="838200"/>
          </a:xfrm>
        </p:spPr>
        <p:txBody>
          <a:bodyPr/>
          <a:lstStyle/>
          <a:p>
            <a:r>
              <a:rPr lang="en-US" sz="1800" dirty="0" smtClean="0">
                <a:cs typeface="Arial" pitchFamily="34" charset="0"/>
              </a:rPr>
              <a:t>Cisco IOS</a:t>
            </a:r>
            <a:r>
              <a:rPr lang="en-US" dirty="0" smtClean="0">
                <a:cs typeface="Arial" pitchFamily="34" charset="0"/>
              </a:rPr>
              <a:t/>
            </a:r>
            <a:br>
              <a:rPr lang="en-US" dirty="0" smtClean="0">
                <a:cs typeface="Arial" pitchFamily="34" charset="0"/>
              </a:rPr>
            </a:br>
            <a:r>
              <a:rPr lang="hu-HU" dirty="0"/>
              <a:t>A Cisco IOS helye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idx="1"/>
          </p:nvPr>
        </p:nvSpPr>
        <p:spPr>
          <a:xfrm>
            <a:off x="449943" y="1480457"/>
            <a:ext cx="8320542" cy="4898118"/>
          </a:xfrm>
        </p:spPr>
        <p:txBody>
          <a:bodyPr/>
          <a:lstStyle/>
          <a:p>
            <a:pPr marL="381000" indent="-381000" eaLnBrk="1" hangingPunct="1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ja-JP" b="1" dirty="0" smtClean="0">
                <a:ea typeface="ＭＳ Ｐゴシック" charset="-128"/>
                <a:cs typeface="Arial" pitchFamily="34" charset="0"/>
              </a:rPr>
              <a:t>Flash</a:t>
            </a:r>
            <a:r>
              <a:rPr lang="hu-HU" altLang="ja-JP" b="1" dirty="0" smtClean="0">
                <a:ea typeface="ＭＳ Ｐゴシック" charset="-128"/>
                <a:cs typeface="Arial" pitchFamily="34" charset="0"/>
              </a:rPr>
              <a:t> memória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Nem </a:t>
            </a:r>
            <a:r>
              <a:rPr lang="hu-HU" sz="2000" dirty="0"/>
              <a:t>felejtő </a:t>
            </a:r>
            <a:r>
              <a:rPr lang="hu-HU" sz="2000" dirty="0" smtClean="0"/>
              <a:t>tárolóegység, áramellátás </a:t>
            </a:r>
            <a:r>
              <a:rPr lang="hu-HU" sz="2000" dirty="0"/>
              <a:t>megszűnése esetén nem veszíti el </a:t>
            </a:r>
            <a:r>
              <a:rPr lang="hu-HU" sz="2000" dirty="0" smtClean="0"/>
              <a:t>tartalmát</a:t>
            </a:r>
            <a:endParaRPr lang="en-US" altLang="ja-JP" sz="2000" dirty="0" smtClean="0">
              <a:ea typeface="ＭＳ Ｐゴシック" charset="-128"/>
              <a:cs typeface="Arial" pitchFamily="34" charset="0"/>
            </a:endParaRP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Szükség esetén </a:t>
            </a:r>
            <a:r>
              <a:rPr lang="hu-HU" sz="2000" dirty="0"/>
              <a:t>lecserélhető vagy </a:t>
            </a:r>
            <a:r>
              <a:rPr lang="hu-HU" sz="2000" dirty="0" smtClean="0"/>
              <a:t>felülírható a tartalma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Alkalmas egyidejűleg </a:t>
            </a:r>
            <a:r>
              <a:rPr lang="hu-HU" sz="2000" dirty="0"/>
              <a:t>több IOS verzió tárolására </a:t>
            </a:r>
            <a:r>
              <a:rPr lang="hu-HU" sz="2000" dirty="0" smtClean="0"/>
              <a:t>is</a:t>
            </a:r>
            <a:endParaRPr lang="en-US" altLang="ja-JP" sz="2000" dirty="0" smtClean="0">
              <a:ea typeface="ＭＳ Ｐゴシック" charset="-128"/>
              <a:cs typeface="Arial" pitchFamily="34" charset="0"/>
            </a:endParaRP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Bekapcsolásakor az </a:t>
            </a:r>
            <a:r>
              <a:rPr lang="hu-HU" sz="2000" dirty="0"/>
              <a:t>IOS a </a:t>
            </a:r>
            <a:r>
              <a:rPr lang="hu-HU" sz="2000" dirty="0" err="1"/>
              <a:t>flash</a:t>
            </a:r>
            <a:r>
              <a:rPr lang="hu-HU" sz="2000" dirty="0"/>
              <a:t> memóriából a </a:t>
            </a:r>
            <a:r>
              <a:rPr lang="hu-HU" sz="2000" dirty="0" err="1"/>
              <a:t>RAM-ba</a:t>
            </a:r>
            <a:r>
              <a:rPr lang="hu-HU" sz="2000" dirty="0"/>
              <a:t> </a:t>
            </a:r>
            <a:r>
              <a:rPr lang="hu-HU" sz="2000" dirty="0" smtClean="0"/>
              <a:t>töltődik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/>
              <a:t>Az IOS változattól függően </a:t>
            </a:r>
            <a:r>
              <a:rPr lang="hu-HU" sz="2000" dirty="0" smtClean="0"/>
              <a:t>eltérő </a:t>
            </a:r>
            <a:r>
              <a:rPr lang="hu-HU" sz="2000" dirty="0"/>
              <a:t>lehet a szükséges </a:t>
            </a:r>
            <a:r>
              <a:rPr lang="hu-HU" sz="2000" dirty="0" err="1"/>
              <a:t>flash</a:t>
            </a:r>
            <a:r>
              <a:rPr lang="hu-HU" sz="2000" dirty="0"/>
              <a:t> memória és RAM mennyisége.</a:t>
            </a:r>
            <a:endParaRPr lang="en-US" altLang="ja-JP" sz="2000" dirty="0" smtClean="0">
              <a:ea typeface="ＭＳ Ｐゴシック" charset="-128"/>
              <a:cs typeface="Arial" pitchFamily="34" charset="0"/>
            </a:endParaRPr>
          </a:p>
        </p:txBody>
      </p:sp>
      <p:pic>
        <p:nvPicPr>
          <p:cNvPr id="12292" name="Picture 5" descr="C:\AriesWork\Content\NetworkBasics\Chapter 2\Graphics\Location of Cisco IO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008" y="4449723"/>
            <a:ext cx="2412936" cy="192885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37924" y="454932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Cisco IOS</a:t>
            </a:r>
            <a:br>
              <a:rPr lang="en-US" sz="1800" dirty="0" smtClean="0">
                <a:cs typeface="Arial" pitchFamily="34" charset="0"/>
              </a:rPr>
            </a:br>
            <a:r>
              <a:rPr lang="hu-HU" dirty="0"/>
              <a:t>Az IOS </a:t>
            </a:r>
            <a:r>
              <a:rPr lang="hu-HU" dirty="0" smtClean="0"/>
              <a:t>funkciói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idx="1"/>
          </p:nvPr>
        </p:nvSpPr>
        <p:spPr>
          <a:xfrm>
            <a:off x="478971" y="1436688"/>
            <a:ext cx="7997372" cy="593725"/>
          </a:xfrm>
        </p:spPr>
        <p:txBody>
          <a:bodyPr/>
          <a:lstStyle/>
          <a:p>
            <a:pPr marL="0" indent="0" eaLnBrk="1" hangingPunct="1">
              <a:lnSpc>
                <a:spcPct val="100000"/>
              </a:lnSpc>
              <a:buNone/>
            </a:pPr>
            <a:r>
              <a:rPr lang="hu-HU" sz="2000" dirty="0"/>
              <a:t>A Cisco forgalomirányítókon és kapcsolókon futó </a:t>
            </a:r>
            <a:r>
              <a:rPr lang="hu-HU" sz="2000" dirty="0" smtClean="0"/>
              <a:t>IOS legfontosabb funkciói</a:t>
            </a:r>
            <a:endParaRPr lang="en-US" altLang="ja-JP" sz="2000" dirty="0">
              <a:ea typeface="ＭＳ Ｐゴシック" pitchFamily="34" charset="-128"/>
              <a:cs typeface="Arial" charset="0"/>
            </a:endParaRPr>
          </a:p>
        </p:txBody>
      </p: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2030413"/>
            <a:ext cx="4948464" cy="442011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555" y="443593"/>
            <a:ext cx="8145463" cy="838200"/>
          </a:xfrm>
        </p:spPr>
        <p:txBody>
          <a:bodyPr/>
          <a:lstStyle/>
          <a:p>
            <a:r>
              <a:rPr lang="hu-HU" sz="1800" dirty="0"/>
              <a:t>A Cisco IOS </a:t>
            </a:r>
            <a:r>
              <a:rPr lang="hu-HU" sz="1800" dirty="0" smtClean="0"/>
              <a:t>elérése</a:t>
            </a:r>
            <a:r>
              <a:rPr lang="en-US" sz="1800" dirty="0" smtClean="0">
                <a:cs typeface="Arial" pitchFamily="34" charset="0"/>
              </a:rPr>
              <a:t/>
            </a:r>
            <a:br>
              <a:rPr lang="en-US" sz="1800" dirty="0" smtClean="0">
                <a:cs typeface="Arial" pitchFamily="34" charset="0"/>
              </a:rPr>
            </a:br>
            <a:r>
              <a:rPr lang="hu-HU" dirty="0"/>
              <a:t>Konzol elérési mód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idx="1"/>
          </p:nvPr>
        </p:nvSpPr>
        <p:spPr>
          <a:xfrm>
            <a:off x="465366" y="1503363"/>
            <a:ext cx="8264525" cy="2603500"/>
          </a:xfrm>
        </p:spPr>
        <p:txBody>
          <a:bodyPr/>
          <a:lstStyle/>
          <a:p>
            <a:pPr marL="0" indent="0">
              <a:buNone/>
            </a:pPr>
            <a:r>
              <a:rPr lang="hu-HU" sz="2000" dirty="0"/>
              <a:t>A parancssori környezet többféleképpen is elérhető, a leggyakoribb módok:</a:t>
            </a:r>
          </a:p>
          <a:p>
            <a:r>
              <a:rPr lang="hu-HU" sz="2000" dirty="0"/>
              <a:t>Konzol</a:t>
            </a:r>
          </a:p>
          <a:p>
            <a:r>
              <a:rPr lang="hu-HU" sz="2000" dirty="0"/>
              <a:t>Telnet vagy SSH</a:t>
            </a:r>
          </a:p>
          <a:p>
            <a:r>
              <a:rPr lang="hu-HU" sz="2000" dirty="0" err="1"/>
              <a:t>Aux</a:t>
            </a:r>
            <a:r>
              <a:rPr lang="hu-HU" sz="2000" dirty="0"/>
              <a:t> port</a:t>
            </a:r>
          </a:p>
          <a:p>
            <a:pPr marL="0" indent="0" eaLnBrk="1" hangingPunct="1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ja-JP" sz="2000" dirty="0">
              <a:ea typeface="ＭＳ Ｐゴシック" charset="-128"/>
            </a:endParaRPr>
          </a:p>
          <a:p>
            <a:pPr marL="0" indent="0" eaLnBrk="1" hangingPunct="1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ja-JP" sz="2000" dirty="0" smtClean="0">
              <a:ea typeface="ＭＳ Ｐゴシック" charset="-128"/>
            </a:endParaRPr>
          </a:p>
        </p:txBody>
      </p:sp>
      <p:pic>
        <p:nvPicPr>
          <p:cNvPr id="1434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3789230"/>
            <a:ext cx="6975475" cy="241458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28853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hu-HU" sz="1800" dirty="0"/>
              <a:t>A Cisco IOS </a:t>
            </a:r>
            <a:r>
              <a:rPr lang="hu-HU" sz="1800" dirty="0" smtClean="0"/>
              <a:t>elérése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hu-HU" dirty="0"/>
              <a:t>Konzol elérési mód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4339" name="Rectangle 6"/>
          <p:cNvSpPr>
            <a:spLocks noGrp="1" noChangeArrowheads="1"/>
          </p:cNvSpPr>
          <p:nvPr>
            <p:ph idx="1"/>
          </p:nvPr>
        </p:nvSpPr>
        <p:spPr>
          <a:xfrm>
            <a:off x="464458" y="1407886"/>
            <a:ext cx="8335963" cy="5146902"/>
          </a:xfrm>
        </p:spPr>
        <p:txBody>
          <a:bodyPr/>
          <a:lstStyle/>
          <a:p>
            <a:pPr marL="0" indent="0" eaLnBrk="1" hangingPunct="1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hu-HU" altLang="ja-JP" b="1" dirty="0" smtClean="0">
                <a:ea typeface="ＭＳ Ｐゴシック" charset="-128"/>
                <a:cs typeface="Arial" pitchFamily="34" charset="0"/>
              </a:rPr>
              <a:t>Konzol</a:t>
            </a:r>
            <a:r>
              <a:rPr lang="en-US" altLang="ja-JP" b="1" dirty="0" smtClean="0">
                <a:ea typeface="ＭＳ Ｐゴシック" charset="-128"/>
                <a:cs typeface="Arial" pitchFamily="34" charset="0"/>
              </a:rPr>
              <a:t> </a:t>
            </a:r>
            <a:r>
              <a:rPr lang="hu-HU" altLang="ja-JP" b="1" dirty="0" smtClean="0">
                <a:ea typeface="ＭＳ Ｐゴシック" charset="-128"/>
                <a:cs typeface="Arial" pitchFamily="34" charset="0"/>
              </a:rPr>
              <a:t>p</a:t>
            </a:r>
            <a:r>
              <a:rPr lang="en-US" altLang="ja-JP" b="1" dirty="0" smtClean="0">
                <a:ea typeface="ＭＳ Ｐゴシック" charset="-128"/>
                <a:cs typeface="Arial" pitchFamily="34" charset="0"/>
              </a:rPr>
              <a:t>ort</a:t>
            </a:r>
          </a:p>
          <a:p>
            <a:pPr eaLnBrk="1" hangingPunct="1">
              <a:lnSpc>
                <a:spcPct val="75000"/>
              </a:lnSpc>
              <a:defRPr/>
            </a:pPr>
            <a:r>
              <a:rPr lang="hu-HU" sz="2000" dirty="0"/>
              <a:t>A konzol port egy sávon kívüli elérést biztosító menedzsment </a:t>
            </a:r>
            <a:r>
              <a:rPr lang="hu-HU" sz="2000" dirty="0" smtClean="0"/>
              <a:t>port.</a:t>
            </a:r>
          </a:p>
          <a:p>
            <a:pPr eaLnBrk="1" hangingPunct="1">
              <a:lnSpc>
                <a:spcPct val="75000"/>
              </a:lnSpc>
              <a:defRPr/>
            </a:pP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Hálózati szolgáltatás használata nélküli konfigurációhoz.</a:t>
            </a:r>
          </a:p>
          <a:p>
            <a:pPr eaLnBrk="1" hangingPunct="1">
              <a:lnSpc>
                <a:spcPct val="75000"/>
              </a:lnSpc>
              <a:defRPr/>
            </a:pP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Konzol kábellel lehet csatlakozni</a:t>
            </a:r>
          </a:p>
          <a:p>
            <a:pPr eaLnBrk="1" hangingPunct="1">
              <a:lnSpc>
                <a:spcPct val="75000"/>
              </a:lnSpc>
              <a:defRPr/>
            </a:pPr>
            <a:r>
              <a:rPr lang="hu-HU" sz="2000" dirty="0" smtClean="0"/>
              <a:t>Bármilyen szükséges </a:t>
            </a:r>
            <a:r>
              <a:rPr lang="hu-HU" sz="2000" dirty="0"/>
              <a:t>utasítást kiadhat rajta keresztül</a:t>
            </a:r>
            <a:r>
              <a:rPr lang="hu-HU" sz="2000" dirty="0" smtClean="0"/>
              <a:t>.</a:t>
            </a:r>
          </a:p>
          <a:p>
            <a:pPr eaLnBrk="1" hangingPunct="1">
              <a:lnSpc>
                <a:spcPct val="75000"/>
              </a:lnSpc>
              <a:defRPr/>
            </a:pPr>
            <a:r>
              <a:rPr lang="hu-HU" sz="2000" dirty="0" smtClean="0"/>
              <a:t>Jelszavas védelmet lehet konfigurálni.</a:t>
            </a: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4055159"/>
            <a:ext cx="6450013" cy="22383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5" name="Down Arrow 1"/>
          <p:cNvSpPr>
            <a:spLocks noChangeArrowheads="1"/>
          </p:cNvSpPr>
          <p:nvPr/>
        </p:nvSpPr>
        <p:spPr bwMode="auto">
          <a:xfrm>
            <a:off x="5935663" y="4316413"/>
            <a:ext cx="742950" cy="1352550"/>
          </a:xfrm>
          <a:prstGeom prst="downArrow">
            <a:avLst>
              <a:gd name="adj1" fmla="val 50000"/>
              <a:gd name="adj2" fmla="val 4997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82124" tIns="41061" rIns="82124" bIns="41061" anchor="ctr">
            <a:spAutoFit/>
          </a:bodyPr>
          <a:lstStyle/>
          <a:p>
            <a:pPr defTabSz="814388"/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710" y="5114501"/>
            <a:ext cx="4264090" cy="147721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15006" y="439738"/>
            <a:ext cx="8143875" cy="838200"/>
          </a:xfrm>
        </p:spPr>
        <p:txBody>
          <a:bodyPr/>
          <a:lstStyle/>
          <a:p>
            <a:pPr eaLnBrk="1" hangingPunct="1">
              <a:defRPr/>
            </a:pPr>
            <a:r>
              <a:rPr lang="hu-HU" sz="1800" dirty="0"/>
              <a:t>A Cisco IOS </a:t>
            </a:r>
            <a:r>
              <a:rPr lang="hu-HU" sz="1800" dirty="0" smtClean="0"/>
              <a:t>elérése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hu-HU" dirty="0"/>
              <a:t>Telnet, SSH és AUX hozzáférési </a:t>
            </a:r>
            <a:r>
              <a:rPr lang="hu-HU" dirty="0" smtClean="0"/>
              <a:t>módok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idx="1"/>
          </p:nvPr>
        </p:nvSpPr>
        <p:spPr>
          <a:xfrm>
            <a:off x="365125" y="1382713"/>
            <a:ext cx="8216900" cy="5153025"/>
          </a:xfrm>
        </p:spPr>
        <p:txBody>
          <a:bodyPr/>
          <a:lstStyle/>
          <a:p>
            <a:pPr marL="381000" indent="-381000" eaLnBrk="1" hangingPunct="1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ja-JP" sz="2000" b="1" dirty="0" smtClean="0">
                <a:ea typeface="ＭＳ Ｐゴシック" charset="-128"/>
                <a:cs typeface="Arial" pitchFamily="34" charset="0"/>
              </a:rPr>
              <a:t>Telnet</a:t>
            </a:r>
            <a:r>
              <a:rPr lang="en-US" altLang="ja-JP" sz="2000" dirty="0" smtClean="0">
                <a:ea typeface="ＭＳ Ｐゴシック" charset="-128"/>
                <a:cs typeface="Arial" pitchFamily="34" charset="0"/>
              </a:rPr>
              <a:t> 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Parancssor távoli </a:t>
            </a:r>
            <a:r>
              <a:rPr lang="hu-HU" altLang="ja-JP" sz="2000" dirty="0">
                <a:ea typeface="ＭＳ Ｐゴシック" charset="-128"/>
                <a:cs typeface="Arial" pitchFamily="34" charset="0"/>
              </a:rPr>
              <a:t>elérési módja hálózaton </a:t>
            </a: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keresztül.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Igényli a </a:t>
            </a:r>
            <a:r>
              <a:rPr lang="hu-HU" altLang="ja-JP" sz="2000" dirty="0">
                <a:ea typeface="ＭＳ Ｐゴシック" charset="-128"/>
                <a:cs typeface="Arial" pitchFamily="34" charset="0"/>
              </a:rPr>
              <a:t>hálózati szolgáltatások </a:t>
            </a: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működését, a eszköznek </a:t>
            </a:r>
            <a:r>
              <a:rPr lang="hu-HU" altLang="ja-JP" sz="2000" dirty="0">
                <a:ea typeface="ＭＳ Ｐゴシック" charset="-128"/>
                <a:cs typeface="Arial" pitchFamily="34" charset="0"/>
              </a:rPr>
              <a:t>rendelkeznie kell legalább egy aktív </a:t>
            </a:r>
            <a:r>
              <a:rPr lang="hu-HU" altLang="ja-JP" sz="2000" dirty="0" err="1" smtClean="0">
                <a:ea typeface="ＭＳ Ｐゴシック" charset="-128"/>
                <a:cs typeface="Arial" pitchFamily="34" charset="0"/>
              </a:rPr>
              <a:t>interfésszel</a:t>
            </a:r>
            <a:r>
              <a:rPr lang="hu-HU" altLang="ja-JP" sz="2000" dirty="0" smtClean="0">
                <a:ea typeface="ＭＳ Ｐゴシック" charset="-128"/>
                <a:cs typeface="Arial" pitchFamily="34" charset="0"/>
              </a:rPr>
              <a:t>.</a:t>
            </a:r>
            <a:endParaRPr lang="en-US" altLang="ja-JP" sz="2000" dirty="0" smtClean="0">
              <a:ea typeface="ＭＳ Ｐゴシック" charset="-128"/>
              <a:cs typeface="Arial" pitchFamily="34" charset="0"/>
            </a:endParaRPr>
          </a:p>
          <a:p>
            <a:pPr marL="0" indent="0" eaLnBrk="1" hangingPunct="1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ja-JP" sz="2000" b="1" dirty="0" smtClean="0">
                <a:ea typeface="ＭＳ Ｐゴシック" charset="-128"/>
                <a:cs typeface="Arial" pitchFamily="34" charset="0"/>
              </a:rPr>
              <a:t>Secure Shell (SSH)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A </a:t>
            </a:r>
            <a:r>
              <a:rPr lang="hu-HU" sz="2000" dirty="0" err="1"/>
              <a:t>Telnet-hez</a:t>
            </a:r>
            <a:r>
              <a:rPr lang="hu-HU" sz="2000" dirty="0"/>
              <a:t> hasonló távoli bejelentkezést tesz lehetővé, </a:t>
            </a:r>
            <a:r>
              <a:rPr lang="hu-HU" sz="2000" dirty="0" smtClean="0"/>
              <a:t>azonban biztonságosabb </a:t>
            </a:r>
            <a:r>
              <a:rPr lang="hu-HU" sz="2000" dirty="0"/>
              <a:t>hálózati szolgáltatások segítségével.</a:t>
            </a:r>
            <a:endParaRPr lang="en-US" altLang="ja-JP" sz="2000" dirty="0" smtClean="0">
              <a:ea typeface="ＭＳ Ｐゴシック" charset="-128"/>
              <a:cs typeface="Arial" pitchFamily="34" charset="0"/>
            </a:endParaRP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/>
              <a:t>erősebb jelszó hitelesítést alkalmaz </a:t>
            </a:r>
            <a:endParaRPr lang="hu-HU" sz="2000" dirty="0" smtClean="0"/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/>
              <a:t>az adatok továbbítását titkosítva végzi</a:t>
            </a:r>
            <a:endParaRPr lang="en-US" altLang="ja-JP" sz="2000" dirty="0" smtClean="0">
              <a:ea typeface="ＭＳ Ｐゴシック" charset="-128"/>
              <a:cs typeface="Arial" pitchFamily="34" charset="0"/>
            </a:endParaRPr>
          </a:p>
          <a:p>
            <a:pPr marL="0" indent="0" eaLnBrk="1" hangingPunct="1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ja-JP" sz="2000" b="1" dirty="0" smtClean="0">
                <a:ea typeface="ＭＳ Ｐゴシック" charset="-128"/>
                <a:cs typeface="Arial" pitchFamily="34" charset="0"/>
              </a:rPr>
              <a:t>Aux </a:t>
            </a:r>
            <a:r>
              <a:rPr lang="en-US" altLang="ja-JP" sz="2000" b="1" dirty="0">
                <a:ea typeface="ＭＳ Ｐゴシック" charset="-128"/>
                <a:cs typeface="Arial" pitchFamily="34" charset="0"/>
              </a:rPr>
              <a:t>Port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/>
              <a:t>sávon kívüli elérést </a:t>
            </a:r>
            <a:endParaRPr lang="hu-HU" sz="2000" dirty="0" smtClean="0"/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betárcsázós telefonkapcsolat</a:t>
            </a:r>
          </a:p>
          <a:p>
            <a:pPr eaLnBrk="1" hangingPunct="1">
              <a:lnSpc>
                <a:spcPct val="100000"/>
              </a:lnSpc>
              <a:defRPr/>
            </a:pPr>
            <a:endParaRPr lang="en-US" altLang="ja-JP" sz="2000" dirty="0" smtClean="0">
              <a:ea typeface="ＭＳ Ｐゴシック" charset="-128"/>
              <a:cs typeface="Arial" pitchFamily="34" charset="0"/>
            </a:endParaRPr>
          </a:p>
          <a:p>
            <a:pPr eaLnBrk="1" hangingPunct="1">
              <a:lnSpc>
                <a:spcPct val="100000"/>
              </a:lnSpc>
              <a:defRPr/>
            </a:pPr>
            <a:endParaRPr lang="en-US" altLang="ja-JP" sz="2000" dirty="0" smtClean="0">
              <a:ea typeface="ＭＳ Ｐゴシック" charset="-128"/>
            </a:endParaRPr>
          </a:p>
        </p:txBody>
      </p:sp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38" y="4940300"/>
            <a:ext cx="554037" cy="79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74650" y="433388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hu-HU" sz="1800" dirty="0"/>
              <a:t>A Cisco IOS elérése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hu-HU" dirty="0"/>
              <a:t>Terminál emulációs </a:t>
            </a:r>
            <a:r>
              <a:rPr lang="hu-HU" dirty="0" smtClean="0"/>
              <a:t>programok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idx="1"/>
          </p:nvPr>
        </p:nvSpPr>
        <p:spPr>
          <a:xfrm>
            <a:off x="478746" y="1827213"/>
            <a:ext cx="3454400" cy="4572000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hu-HU" sz="2000" dirty="0" smtClean="0"/>
              <a:t>Néhány terminál emulációs program</a:t>
            </a:r>
            <a:r>
              <a:rPr lang="en-US" sz="2000" dirty="0" smtClean="0"/>
              <a:t>:</a:t>
            </a:r>
          </a:p>
          <a:p>
            <a:pPr>
              <a:defRPr/>
            </a:pPr>
            <a:r>
              <a:rPr lang="en-US" sz="2000" dirty="0" err="1" smtClean="0"/>
              <a:t>PuTTY</a:t>
            </a:r>
            <a:endParaRPr lang="en-US" sz="2000" dirty="0" smtClean="0"/>
          </a:p>
          <a:p>
            <a:pPr>
              <a:defRPr/>
            </a:pPr>
            <a:r>
              <a:rPr lang="en-US" sz="2000" dirty="0" err="1" smtClean="0"/>
              <a:t>Tera</a:t>
            </a:r>
            <a:r>
              <a:rPr lang="en-US" sz="2000" dirty="0" smtClean="0"/>
              <a:t> </a:t>
            </a:r>
            <a:r>
              <a:rPr lang="en-US" sz="2000" dirty="0"/>
              <a:t>Term</a:t>
            </a:r>
          </a:p>
          <a:p>
            <a:pPr>
              <a:defRPr/>
            </a:pPr>
            <a:r>
              <a:rPr lang="en-US" sz="2000" dirty="0" err="1"/>
              <a:t>SecureCRT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HyperTerminal</a:t>
            </a:r>
          </a:p>
          <a:p>
            <a:pPr>
              <a:defRPr/>
            </a:pPr>
            <a:r>
              <a:rPr lang="en-US" sz="2000" dirty="0"/>
              <a:t>OS X Terminal</a:t>
            </a:r>
          </a:p>
          <a:p>
            <a:pPr marL="381000" indent="-381000" eaLnBrk="1" hangingPunct="1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ja-JP" sz="2000" dirty="0" smtClean="0">
              <a:ea typeface="ＭＳ Ｐゴシック" charset="-128"/>
            </a:endParaRPr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1392238"/>
            <a:ext cx="4410075" cy="47117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444500"/>
            <a:ext cx="8143875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>
                <a:cs typeface="Arial" pitchFamily="34" charset="0"/>
              </a:rPr>
              <a:t>Az</a:t>
            </a:r>
            <a:r>
              <a:rPr lang="en-US" sz="1800" dirty="0">
                <a:cs typeface="Arial" pitchFamily="34" charset="0"/>
              </a:rPr>
              <a:t> IOS </a:t>
            </a:r>
            <a:r>
              <a:rPr lang="en-US" sz="1800" dirty="0" err="1" smtClean="0">
                <a:cs typeface="Arial" pitchFamily="34" charset="0"/>
              </a:rPr>
              <a:t>használata</a:t>
            </a:r>
            <a:r>
              <a:rPr lang="hu-HU" sz="1800" dirty="0" smtClean="0">
                <a:cs typeface="Arial" pitchFamily="34" charset="0"/>
              </a:rPr>
              <a:t/>
            </a:r>
            <a:br>
              <a:rPr lang="hu-HU" sz="1800" dirty="0" smtClean="0">
                <a:cs typeface="Arial" pitchFamily="34" charset="0"/>
              </a:rPr>
            </a:br>
            <a:r>
              <a:rPr lang="hu-HU" dirty="0" smtClean="0"/>
              <a:t>Cisco </a:t>
            </a:r>
            <a:r>
              <a:rPr lang="hu-HU" dirty="0"/>
              <a:t>IOS működési </a:t>
            </a:r>
            <a:r>
              <a:rPr lang="hu-HU" dirty="0" smtClean="0"/>
              <a:t>módok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205" y="1297441"/>
            <a:ext cx="6402704" cy="533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98450" y="514350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>
                <a:cs typeface="Arial" pitchFamily="34" charset="0"/>
              </a:rPr>
              <a:t>Az</a:t>
            </a:r>
            <a:r>
              <a:rPr lang="en-US" sz="1800" dirty="0" smtClean="0">
                <a:cs typeface="Arial" pitchFamily="34" charset="0"/>
              </a:rPr>
              <a:t> IOS </a:t>
            </a:r>
            <a:r>
              <a:rPr lang="en-US" sz="1800" dirty="0" err="1" smtClean="0">
                <a:cs typeface="Arial" pitchFamily="34" charset="0"/>
              </a:rPr>
              <a:t>használata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Elsődleges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módok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945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1527175"/>
            <a:ext cx="7773987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414564"/>
            <a:ext cx="8801100" cy="838200"/>
          </a:xfrm>
        </p:spPr>
        <p:txBody>
          <a:bodyPr/>
          <a:lstStyle/>
          <a:p>
            <a:pPr eaLnBrk="1" hangingPunct="1">
              <a:defRPr/>
            </a:pPr>
            <a:r>
              <a:rPr lang="hu-HU" sz="1800" dirty="0"/>
              <a:t>Az IOS </a:t>
            </a:r>
            <a:r>
              <a:rPr lang="hu-HU" sz="1800" dirty="0" smtClean="0"/>
              <a:t>használata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hu-HU" dirty="0"/>
              <a:t>Globális konfigurációs mód és </a:t>
            </a:r>
            <a:r>
              <a:rPr lang="hu-HU" dirty="0" err="1" smtClean="0"/>
              <a:t>almódok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048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8" y="1511300"/>
            <a:ext cx="3884612" cy="456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1824038"/>
            <a:ext cx="4702175" cy="386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87" y="492579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hu-HU" sz="1800" dirty="0" smtClean="0"/>
              <a:t>Az IOS használata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Átjárás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az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IOS-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módok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között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11" y="1707922"/>
            <a:ext cx="7879014" cy="45622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6130" y="534149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hu-HU" sz="1800" dirty="0"/>
              <a:t>Az IOS használata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AAC1D8">
                    <a:lumMod val="75000"/>
                  </a:srgbClr>
                </a:solidFill>
                <a:cs typeface="Arial" pitchFamily="34" charset="0"/>
              </a:rPr>
              <a:t>Átjárás</a:t>
            </a:r>
            <a:r>
              <a:rPr lang="en-US" dirty="0">
                <a:solidFill>
                  <a:srgbClr val="AAC1D8">
                    <a:lumMod val="75000"/>
                  </a:srgb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rgbClr val="AAC1D8">
                    <a:lumMod val="75000"/>
                  </a:srgbClr>
                </a:solidFill>
                <a:cs typeface="Arial" pitchFamily="34" charset="0"/>
              </a:rPr>
              <a:t>az</a:t>
            </a:r>
            <a:r>
              <a:rPr lang="en-US" dirty="0">
                <a:solidFill>
                  <a:srgbClr val="AAC1D8">
                    <a:lumMod val="75000"/>
                  </a:srgbClr>
                </a:solidFill>
                <a:cs typeface="Arial" pitchFamily="34" charset="0"/>
              </a:rPr>
              <a:t> IOS-</a:t>
            </a:r>
            <a:r>
              <a:rPr lang="en-US" dirty="0" err="1">
                <a:solidFill>
                  <a:srgbClr val="AAC1D8">
                    <a:lumMod val="75000"/>
                  </a:srgbClr>
                </a:solidFill>
                <a:cs typeface="Arial" pitchFamily="34" charset="0"/>
              </a:rPr>
              <a:t>módok</a:t>
            </a:r>
            <a:r>
              <a:rPr lang="en-US" dirty="0">
                <a:solidFill>
                  <a:srgbClr val="AAC1D8">
                    <a:lumMod val="75000"/>
                  </a:srgb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rgbClr val="AAC1D8">
                    <a:lumMod val="75000"/>
                  </a:srgbClr>
                </a:solidFill>
                <a:cs typeface="Arial" pitchFamily="34" charset="0"/>
              </a:rPr>
              <a:t>között</a:t>
            </a:r>
            <a:r>
              <a:rPr lang="hu-HU" dirty="0" smtClean="0">
                <a:solidFill>
                  <a:srgbClr val="AAC1D8">
                    <a:lumMod val="75000"/>
                  </a:srgbClr>
                </a:solidFill>
                <a:cs typeface="Arial" pitchFamily="34" charset="0"/>
              </a:rPr>
              <a:t> (folytatás)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12" y="1372349"/>
            <a:ext cx="462915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506" y="2807903"/>
            <a:ext cx="45243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471" y="4243387"/>
            <a:ext cx="44958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smtClean="0"/>
              <a:t>7. óra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0775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77043" y="464231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A </a:t>
            </a:r>
            <a:r>
              <a:rPr lang="en-US" sz="1800" dirty="0" err="1" smtClean="0">
                <a:cs typeface="Arial" pitchFamily="34" charset="0"/>
              </a:rPr>
              <a:t>parancsok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felépítése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Az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IOS-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parancsok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felépítése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1477963"/>
            <a:ext cx="9188450" cy="392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32707" y="420915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A </a:t>
            </a:r>
            <a:r>
              <a:rPr lang="en-US" sz="1800" dirty="0" err="1" smtClean="0">
                <a:cs typeface="Arial" pitchFamily="34" charset="0"/>
              </a:rPr>
              <a:t>parancsok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felépítése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hu-HU" dirty="0" smtClean="0"/>
              <a:t>A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Cisco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IOS Command Reference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idx="1"/>
          </p:nvPr>
        </p:nvSpPr>
        <p:spPr>
          <a:xfrm>
            <a:off x="515938" y="1277938"/>
            <a:ext cx="8401050" cy="516255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hu-HU" sz="2000" dirty="0"/>
              <a:t>A </a:t>
            </a:r>
            <a:r>
              <a:rPr lang="hu-HU" sz="2000" dirty="0" err="1"/>
              <a:t>Command</a:t>
            </a:r>
            <a:r>
              <a:rPr lang="hu-HU" sz="2000" dirty="0"/>
              <a:t> </a:t>
            </a:r>
            <a:r>
              <a:rPr lang="hu-HU" sz="2000" dirty="0" err="1"/>
              <a:t>Reference</a:t>
            </a:r>
            <a:r>
              <a:rPr lang="hu-HU" sz="2000" dirty="0"/>
              <a:t> eléréséhez és a parancsok kereséséhez kövessük az alábbi lépéseket: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hu-HU" sz="2000" dirty="0" smtClean="0"/>
              <a:t>Keressük </a:t>
            </a:r>
            <a:r>
              <a:rPr lang="hu-HU" sz="2000" dirty="0"/>
              <a:t>fel: </a:t>
            </a:r>
            <a:r>
              <a:rPr lang="hu-HU" sz="2000" dirty="0" err="1">
                <a:hlinkClick r:id="rId3"/>
              </a:rPr>
              <a:t>www.cisco.com</a:t>
            </a:r>
            <a:r>
              <a:rPr lang="hu-HU" sz="2000" dirty="0"/>
              <a:t>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hu-HU" sz="2000" dirty="0" smtClean="0"/>
              <a:t>Kattintsunk</a:t>
            </a:r>
            <a:r>
              <a:rPr lang="hu-HU" sz="2000" dirty="0"/>
              <a:t>: </a:t>
            </a:r>
            <a:r>
              <a:rPr lang="hu-HU" sz="2000" b="1" dirty="0" err="1"/>
              <a:t>Support</a:t>
            </a:r>
            <a:r>
              <a:rPr lang="hu-HU" sz="2000" dirty="0"/>
              <a:t>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hu-HU" sz="2000" dirty="0" smtClean="0"/>
              <a:t>Kattintsunk</a:t>
            </a:r>
            <a:r>
              <a:rPr lang="hu-HU" sz="2000" dirty="0"/>
              <a:t>: </a:t>
            </a:r>
            <a:r>
              <a:rPr lang="hu-HU" sz="2000" b="1" dirty="0" err="1"/>
              <a:t>Networking</a:t>
            </a:r>
            <a:r>
              <a:rPr lang="hu-HU" sz="2000" b="1" dirty="0"/>
              <a:t> Software</a:t>
            </a:r>
            <a:r>
              <a:rPr lang="hu-HU" sz="2000" dirty="0"/>
              <a:t> (IOS &amp; NX-OS).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hu-HU" sz="2000" dirty="0" smtClean="0"/>
              <a:t>Kattintsunk</a:t>
            </a:r>
            <a:r>
              <a:rPr lang="hu-HU" sz="2000" dirty="0"/>
              <a:t>: </a:t>
            </a:r>
            <a:r>
              <a:rPr lang="hu-HU" sz="2000" b="1" dirty="0"/>
              <a:t>15.2M&amp;T</a:t>
            </a:r>
            <a:r>
              <a:rPr lang="hu-HU" sz="2000" dirty="0"/>
              <a:t> (például).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hu-HU" sz="2000" dirty="0" smtClean="0"/>
              <a:t>Kattintsunk</a:t>
            </a:r>
            <a:r>
              <a:rPr lang="hu-HU" sz="2000" dirty="0"/>
              <a:t>: </a:t>
            </a:r>
            <a:r>
              <a:rPr lang="hu-HU" sz="2000" b="1" dirty="0" err="1"/>
              <a:t>Reference</a:t>
            </a:r>
            <a:r>
              <a:rPr lang="hu-HU" sz="2000" b="1" dirty="0"/>
              <a:t> </a:t>
            </a:r>
            <a:r>
              <a:rPr lang="hu-HU" sz="2000" b="1" dirty="0" err="1"/>
              <a:t>Guides</a:t>
            </a:r>
            <a:r>
              <a:rPr lang="hu-HU" sz="2000" dirty="0"/>
              <a:t>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hu-HU" sz="2000" dirty="0" smtClean="0"/>
              <a:t>Kattintsunk</a:t>
            </a:r>
            <a:r>
              <a:rPr lang="hu-HU" sz="2000" dirty="0"/>
              <a:t>: </a:t>
            </a:r>
            <a:r>
              <a:rPr lang="hu-HU" sz="2000" b="1" dirty="0" err="1"/>
              <a:t>CommandReferences</a:t>
            </a:r>
            <a:r>
              <a:rPr lang="hu-HU" sz="2000" dirty="0"/>
              <a:t>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hu-HU" sz="2000" dirty="0" smtClean="0"/>
              <a:t>Kattintsunk </a:t>
            </a:r>
            <a:r>
              <a:rPr lang="hu-HU" sz="2000" dirty="0"/>
              <a:t>a kívánt kategóriára, amelybe a keresett parancs tartozik.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hu-HU" sz="2000" dirty="0" smtClean="0"/>
              <a:t>A </a:t>
            </a:r>
            <a:r>
              <a:rPr lang="hu-HU" sz="2000" dirty="0"/>
              <a:t>bal oldali listában kattintsunk a parancs kezdőbetűjének megfelelő hivatkozásra.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hu-HU" sz="2000" dirty="0" smtClean="0"/>
              <a:t>Kattintsunk a </a:t>
            </a:r>
            <a:r>
              <a:rPr lang="hu-HU" sz="2000" dirty="0"/>
              <a:t>parancsra.</a:t>
            </a:r>
          </a:p>
          <a:p>
            <a:pPr marL="381000" indent="-381000" eaLnBrk="1" hangingPunct="1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ja-JP" sz="2000" dirty="0" smtClean="0">
              <a:ea typeface="ＭＳ Ｐゴシック" charset="-128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1204" y="433388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A </a:t>
            </a:r>
            <a:r>
              <a:rPr lang="en-US" sz="1800" dirty="0" err="1" smtClean="0">
                <a:cs typeface="Arial" pitchFamily="34" charset="0"/>
              </a:rPr>
              <a:t>parancsok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felépítése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Környezetérzékeny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súgó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560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1271588"/>
            <a:ext cx="6253162" cy="539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826" y="1328477"/>
            <a:ext cx="7185220" cy="5130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51064" y="439285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A </a:t>
            </a:r>
            <a:r>
              <a:rPr lang="en-US" sz="1800" dirty="0" err="1" smtClean="0">
                <a:cs typeface="Arial" pitchFamily="34" charset="0"/>
              </a:rPr>
              <a:t>parancsok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felépítése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Parancs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szintaxis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ellenőrzés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178" y="464457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A </a:t>
            </a:r>
            <a:r>
              <a:rPr lang="en-US" sz="1800" dirty="0" err="1" smtClean="0">
                <a:cs typeface="Arial" pitchFamily="34" charset="0"/>
              </a:rPr>
              <a:t>parancsok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felépítése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hu-HU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Gyorsbillentyűk és billentyűkombinációk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7651" name="Rectangle 6"/>
          <p:cNvSpPr>
            <a:spLocks noGrp="1" noChangeArrowheads="1"/>
          </p:cNvSpPr>
          <p:nvPr>
            <p:ph idx="1"/>
          </p:nvPr>
        </p:nvSpPr>
        <p:spPr>
          <a:xfrm>
            <a:off x="502331" y="1446893"/>
            <a:ext cx="7977187" cy="50482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 smtClean="0"/>
              <a:t>Tab –</a:t>
            </a:r>
            <a:r>
              <a:rPr lang="en-US" sz="2000" dirty="0" smtClean="0"/>
              <a:t> </a:t>
            </a:r>
            <a:r>
              <a:rPr lang="hu-HU" sz="2000" b="1" dirty="0"/>
              <a:t>Tab</a:t>
            </a:r>
            <a:r>
              <a:rPr lang="hu-HU" sz="2000" dirty="0"/>
              <a:t> - Kiegészíti a részlegesen begépelt parancsokat</a:t>
            </a:r>
          </a:p>
          <a:p>
            <a:pPr>
              <a:lnSpc>
                <a:spcPct val="100000"/>
              </a:lnSpc>
              <a:defRPr/>
            </a:pPr>
            <a:r>
              <a:rPr lang="en-US" sz="2000" b="1" dirty="0" smtClean="0"/>
              <a:t>Ctrl</a:t>
            </a:r>
            <a:r>
              <a:rPr lang="en-US" sz="2000" dirty="0" smtClean="0"/>
              <a:t>-</a:t>
            </a:r>
            <a:r>
              <a:rPr lang="en-US" sz="2000" b="1" dirty="0" smtClean="0"/>
              <a:t>R </a:t>
            </a:r>
            <a:r>
              <a:rPr lang="en-US" sz="2000" b="1" dirty="0"/>
              <a:t>–</a:t>
            </a:r>
            <a:r>
              <a:rPr lang="en-US" sz="2000" dirty="0" smtClean="0"/>
              <a:t> </a:t>
            </a:r>
            <a:r>
              <a:rPr lang="hu-HU" sz="2000" dirty="0"/>
              <a:t>Újra megjelenít egy sort</a:t>
            </a:r>
            <a:r>
              <a:rPr lang="en-US" sz="2000" dirty="0" smtClean="0"/>
              <a:t>.</a:t>
            </a:r>
          </a:p>
          <a:p>
            <a:pPr>
              <a:lnSpc>
                <a:spcPct val="100000"/>
              </a:lnSpc>
              <a:defRPr/>
            </a:pPr>
            <a:r>
              <a:rPr lang="en-US" sz="2000" b="1" dirty="0" smtClean="0"/>
              <a:t>Ctrl</a:t>
            </a:r>
            <a:r>
              <a:rPr lang="en-US" sz="2000" dirty="0"/>
              <a:t>-</a:t>
            </a:r>
            <a:r>
              <a:rPr lang="en-US" sz="2000" b="1" dirty="0" smtClean="0"/>
              <a:t>A – </a:t>
            </a:r>
            <a:r>
              <a:rPr lang="hu-HU" sz="2000" dirty="0"/>
              <a:t>Ugrás a parancssor elejére</a:t>
            </a:r>
            <a:r>
              <a:rPr lang="en-US" sz="2000" dirty="0" smtClean="0"/>
              <a:t>.</a:t>
            </a:r>
            <a:endParaRPr lang="en-US" sz="2000" dirty="0"/>
          </a:p>
          <a:p>
            <a:pPr>
              <a:lnSpc>
                <a:spcPct val="100000"/>
              </a:lnSpc>
              <a:defRPr/>
            </a:pPr>
            <a:r>
              <a:rPr lang="en-US" sz="2000" b="1" dirty="0" smtClean="0"/>
              <a:t>Ctrl</a:t>
            </a:r>
            <a:r>
              <a:rPr lang="en-US" sz="2000" dirty="0"/>
              <a:t>-</a:t>
            </a:r>
            <a:r>
              <a:rPr lang="en-US" sz="2000" b="1" dirty="0" smtClean="0"/>
              <a:t>Z </a:t>
            </a:r>
            <a:r>
              <a:rPr lang="en-US" sz="2000" b="1" dirty="0"/>
              <a:t>–</a:t>
            </a:r>
            <a:r>
              <a:rPr lang="en-US" sz="2000" dirty="0" smtClean="0"/>
              <a:t> </a:t>
            </a:r>
            <a:r>
              <a:rPr lang="hu-HU" sz="2000" dirty="0"/>
              <a:t>Kilép a konfigurációs módból és visszatér felhasználói EXEC módba</a:t>
            </a:r>
            <a:r>
              <a:rPr lang="en-US" sz="2000" dirty="0" smtClean="0"/>
              <a:t>.</a:t>
            </a:r>
            <a:endParaRPr lang="en-US" sz="2000" dirty="0"/>
          </a:p>
          <a:p>
            <a:pPr>
              <a:lnSpc>
                <a:spcPct val="100000"/>
              </a:lnSpc>
              <a:defRPr/>
            </a:pPr>
            <a:r>
              <a:rPr lang="hu-HU" sz="2000" b="1" dirty="0"/>
              <a:t>Lefelé nyíl</a:t>
            </a:r>
            <a:r>
              <a:rPr lang="hu-HU" sz="2000" dirty="0"/>
              <a:t> </a:t>
            </a:r>
            <a:r>
              <a:rPr lang="en-US" sz="2000" b="1" dirty="0"/>
              <a:t> –</a:t>
            </a:r>
            <a:r>
              <a:rPr lang="hu-HU" sz="2000" dirty="0" smtClean="0"/>
              <a:t> </a:t>
            </a:r>
            <a:r>
              <a:rPr lang="hu-HU" sz="2000" dirty="0"/>
              <a:t>Visszagörgeti a korábbi </a:t>
            </a:r>
            <a:r>
              <a:rPr lang="hu-HU" sz="2000" dirty="0" smtClean="0"/>
              <a:t>parancsokat</a:t>
            </a:r>
            <a:r>
              <a:rPr lang="en-US" sz="2000" dirty="0" smtClean="0"/>
              <a:t>.</a:t>
            </a:r>
            <a:endParaRPr lang="en-US" sz="2000" dirty="0"/>
          </a:p>
          <a:p>
            <a:pPr>
              <a:lnSpc>
                <a:spcPct val="100000"/>
              </a:lnSpc>
              <a:defRPr/>
            </a:pPr>
            <a:r>
              <a:rPr lang="en-US" sz="2000" b="1" dirty="0" err="1"/>
              <a:t>Felfelé</a:t>
            </a:r>
            <a:r>
              <a:rPr lang="en-US" sz="2000" b="1" dirty="0"/>
              <a:t> </a:t>
            </a:r>
            <a:r>
              <a:rPr lang="en-US" sz="2000" b="1" dirty="0" err="1"/>
              <a:t>nyíl</a:t>
            </a:r>
            <a:r>
              <a:rPr lang="en-US" sz="2000" b="1" dirty="0"/>
              <a:t> –</a:t>
            </a:r>
            <a:r>
              <a:rPr lang="en-US" sz="2000" b="1" dirty="0" smtClean="0"/>
              <a:t> </a:t>
            </a:r>
            <a:r>
              <a:rPr lang="en-US" sz="2000" dirty="0" err="1"/>
              <a:t>Előregörgeti</a:t>
            </a:r>
            <a:r>
              <a:rPr lang="en-US" sz="2000" dirty="0"/>
              <a:t> a </a:t>
            </a:r>
            <a:r>
              <a:rPr lang="en-US" sz="2000" dirty="0" err="1"/>
              <a:t>korábbi</a:t>
            </a:r>
            <a:r>
              <a:rPr lang="en-US" sz="2000" dirty="0"/>
              <a:t> </a:t>
            </a:r>
            <a:r>
              <a:rPr lang="en-US" sz="2000" dirty="0" err="1"/>
              <a:t>parancsokat</a:t>
            </a:r>
            <a:r>
              <a:rPr lang="en-US" sz="2000" dirty="0" smtClean="0"/>
              <a:t>.</a:t>
            </a:r>
          </a:p>
          <a:p>
            <a:pPr>
              <a:lnSpc>
                <a:spcPct val="100000"/>
              </a:lnSpc>
              <a:defRPr/>
            </a:pPr>
            <a:r>
              <a:rPr lang="en-US" sz="2000" b="1" dirty="0" smtClean="0"/>
              <a:t>Ctrl</a:t>
            </a:r>
            <a:r>
              <a:rPr lang="en-US" sz="2000" dirty="0" smtClean="0"/>
              <a:t>-</a:t>
            </a:r>
            <a:r>
              <a:rPr lang="en-US" sz="2000" b="1" dirty="0" smtClean="0"/>
              <a:t>shift</a:t>
            </a:r>
            <a:r>
              <a:rPr lang="en-US" sz="2000" dirty="0" smtClean="0"/>
              <a:t>-</a:t>
            </a:r>
            <a:r>
              <a:rPr lang="en-US" sz="2000" b="1" dirty="0" smtClean="0"/>
              <a:t>6 –</a:t>
            </a:r>
            <a:r>
              <a:rPr lang="hu-HU" sz="2000" b="1" dirty="0" smtClean="0"/>
              <a:t> </a:t>
            </a:r>
            <a:r>
              <a:rPr lang="hu-HU" sz="2000" dirty="0" smtClean="0"/>
              <a:t>Megszakít </a:t>
            </a:r>
            <a:r>
              <a:rPr lang="hu-HU" sz="2000" dirty="0"/>
              <a:t>egy </a:t>
            </a:r>
            <a:r>
              <a:rPr lang="hu-HU" sz="2000" dirty="0" err="1"/>
              <a:t>IOS-folyamatot</a:t>
            </a:r>
            <a:r>
              <a:rPr lang="hu-HU" sz="2000" dirty="0"/>
              <a:t>, mint például egy </a:t>
            </a:r>
            <a:r>
              <a:rPr lang="hu-HU" sz="2000" dirty="0" err="1"/>
              <a:t>ping</a:t>
            </a:r>
            <a:r>
              <a:rPr lang="hu-HU" sz="2000" dirty="0"/>
              <a:t> vagy </a:t>
            </a:r>
            <a:r>
              <a:rPr lang="hu-HU" sz="2000" dirty="0" err="1"/>
              <a:t>traceroute</a:t>
            </a:r>
            <a:r>
              <a:rPr lang="hu-HU" sz="2000" dirty="0"/>
              <a:t> futását</a:t>
            </a:r>
            <a:r>
              <a:rPr lang="en-US" sz="2000" dirty="0" smtClean="0"/>
              <a:t>.</a:t>
            </a:r>
            <a:r>
              <a:rPr lang="en-US" sz="2000" b="1" dirty="0" smtClean="0"/>
              <a:t> </a:t>
            </a:r>
            <a:endParaRPr lang="en-US" sz="2000" dirty="0"/>
          </a:p>
          <a:p>
            <a:pPr>
              <a:lnSpc>
                <a:spcPct val="100000"/>
              </a:lnSpc>
              <a:defRPr/>
            </a:pPr>
            <a:r>
              <a:rPr lang="en-US" sz="2000" b="1" dirty="0" smtClean="0"/>
              <a:t>Ctrl</a:t>
            </a:r>
            <a:r>
              <a:rPr lang="en-US" sz="2000" dirty="0"/>
              <a:t>-</a:t>
            </a:r>
            <a:r>
              <a:rPr lang="en-US" sz="2000" b="1" dirty="0" smtClean="0"/>
              <a:t>C </a:t>
            </a:r>
            <a:r>
              <a:rPr lang="en-US" sz="2000" b="1" dirty="0"/>
              <a:t>–</a:t>
            </a:r>
            <a:r>
              <a:rPr lang="en-US" sz="2000" dirty="0" smtClean="0"/>
              <a:t> </a:t>
            </a:r>
            <a:r>
              <a:rPr lang="hu-HU" sz="2000" dirty="0"/>
              <a:t>Kilép a konfigurációs módból vagy elveti az aktuális </a:t>
            </a:r>
            <a:r>
              <a:rPr lang="hu-HU" sz="2000" dirty="0" smtClean="0"/>
              <a:t>parancsot</a:t>
            </a:r>
            <a:endParaRPr lang="en-US" altLang="ja-JP" sz="2000" dirty="0" smtClean="0">
              <a:ea typeface="ＭＳ Ｐゴシック" charset="-128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39511" y="487271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A </a:t>
            </a:r>
            <a:r>
              <a:rPr lang="en-US" sz="1800" dirty="0" err="1" smtClean="0">
                <a:cs typeface="Arial" pitchFamily="34" charset="0"/>
              </a:rPr>
              <a:t>parancsok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felépítése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Az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IOS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állapotvizsgáló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parancsai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89" y="1485125"/>
            <a:ext cx="6198469" cy="5075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4" y="420688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Arial" pitchFamily="34" charset="0"/>
              </a:rPr>
              <a:t>A </a:t>
            </a:r>
            <a:r>
              <a:rPr lang="en-US" sz="1800" dirty="0" err="1" smtClean="0">
                <a:cs typeface="Arial" pitchFamily="34" charset="0"/>
              </a:rPr>
              <a:t>parancsok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felépítése</a:t>
            </a:r>
            <a:r>
              <a:rPr lang="en-US" sz="1800" dirty="0" smtClean="0">
                <a:cs typeface="Arial" pitchFamily="34" charset="0"/>
              </a:rPr>
              <a:t/>
            </a:r>
            <a:br>
              <a:rPr lang="en-US" sz="1800" dirty="0" smtClean="0">
                <a:cs typeface="Arial" pitchFamily="34" charset="0"/>
              </a:rPr>
            </a:br>
            <a:r>
              <a:rPr lang="hu-HU" dirty="0"/>
              <a:t>A show version </a:t>
            </a:r>
            <a:r>
              <a:rPr lang="hu-HU" dirty="0" smtClean="0"/>
              <a:t>parancs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394" y="1407886"/>
            <a:ext cx="5963954" cy="52469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smtClean="0"/>
              <a:t>8. óra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31598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 smtClean="0"/>
              <a:t>2.2  </a:t>
            </a:r>
            <a:r>
              <a:rPr lang="en-US" sz="2400" dirty="0" err="1" smtClean="0"/>
              <a:t>Alapok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4343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406" y="420914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>
                <a:cs typeface="Arial" pitchFamily="34" charset="0"/>
              </a:rPr>
              <a:t>Állomásnevek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Miért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a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kapcsoló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?</a:t>
            </a:r>
          </a:p>
        </p:txBody>
      </p:sp>
      <p:sp>
        <p:nvSpPr>
          <p:cNvPr id="31747" name="Rectangle 6"/>
          <p:cNvSpPr>
            <a:spLocks noGrp="1" noChangeArrowheads="1"/>
          </p:cNvSpPr>
          <p:nvPr>
            <p:ph idx="1"/>
          </p:nvPr>
        </p:nvSpPr>
        <p:spPr>
          <a:xfrm>
            <a:off x="583747" y="1473200"/>
            <a:ext cx="8051800" cy="459422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A fejezet további részében egy kisméretű hálózattal foglalkozunk, melyben két </a:t>
            </a:r>
            <a:r>
              <a:rPr lang="hu-HU" sz="2000" dirty="0"/>
              <a:t>PC és egy alapkonfigurációval ellátott kapcsoló található. </a:t>
            </a:r>
            <a:endParaRPr lang="hu-HU" sz="2000" dirty="0" smtClean="0"/>
          </a:p>
          <a:p>
            <a:pPr eaLnBrk="1" hangingPunct="1">
              <a:lnSpc>
                <a:spcPct val="100000"/>
              </a:lnSpc>
              <a:defRPr/>
            </a:pPr>
            <a:r>
              <a:rPr lang="hu-HU" sz="2000" dirty="0" smtClean="0"/>
              <a:t>Alapkonfiguráción </a:t>
            </a:r>
            <a:r>
              <a:rPr lang="hu-HU" sz="2000" dirty="0"/>
              <a:t>értjük az állomásnév, a korlátozott hozzáférés és a bejelentkezési üzenet beállítását, valamint a konfiguráció mentését.</a:t>
            </a:r>
            <a:endParaRPr lang="en-US" altLang="ja-JP" sz="2000" dirty="0" smtClean="0">
              <a:ea typeface="ＭＳ Ｐゴシック" pitchFamily="34" charset="-128"/>
              <a:cs typeface="Arial" pitchFamily="34" charset="0"/>
            </a:endParaRPr>
          </a:p>
        </p:txBody>
      </p:sp>
      <p:pic>
        <p:nvPicPr>
          <p:cNvPr id="3174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572" y="3860800"/>
            <a:ext cx="5439228" cy="2417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25"/>
          <a:stretch>
            <a:fillRect/>
          </a:stretch>
        </p:blipFill>
        <p:spPr bwMode="auto">
          <a:xfrm>
            <a:off x="3919538" y="4064000"/>
            <a:ext cx="4425950" cy="260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369093" y="464457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>
                <a:cs typeface="Arial" pitchFamily="34" charset="0"/>
              </a:rPr>
              <a:t>Állomásnevek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Eszköznevek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idx="1"/>
          </p:nvPr>
        </p:nvSpPr>
        <p:spPr>
          <a:xfrm>
            <a:off x="451985" y="1400175"/>
            <a:ext cx="7821612" cy="3084513"/>
          </a:xfrm>
        </p:spPr>
        <p:txBody>
          <a:bodyPr/>
          <a:lstStyle/>
          <a:p>
            <a:pPr marL="0" indent="0">
              <a:buNone/>
            </a:pPr>
            <a:r>
              <a:rPr lang="hu-HU" sz="2000" dirty="0"/>
              <a:t>A névadásra vonatkozó szabályok alapján egy név:</a:t>
            </a:r>
          </a:p>
          <a:p>
            <a:r>
              <a:rPr lang="hu-HU" sz="2000" dirty="0"/>
              <a:t>betűvel kezdődik</a:t>
            </a:r>
          </a:p>
          <a:p>
            <a:r>
              <a:rPr lang="hu-HU" sz="2000" dirty="0"/>
              <a:t>nem tartalmaz szóközt</a:t>
            </a:r>
          </a:p>
          <a:p>
            <a:r>
              <a:rPr lang="hu-HU" sz="2000" dirty="0"/>
              <a:t>betűvel vagy számmal végződik</a:t>
            </a:r>
          </a:p>
          <a:p>
            <a:r>
              <a:rPr lang="hu-HU" sz="2000" dirty="0"/>
              <a:t>betűt, számot, kötőjelet vagy </a:t>
            </a:r>
            <a:r>
              <a:rPr lang="hu-HU" sz="2000" dirty="0" err="1"/>
              <a:t>aláhúzásjelet</a:t>
            </a:r>
            <a:r>
              <a:rPr lang="hu-HU" sz="2000" dirty="0"/>
              <a:t> tartalmaz</a:t>
            </a:r>
          </a:p>
          <a:p>
            <a:r>
              <a:rPr lang="hu-HU" sz="2000" dirty="0"/>
              <a:t>legfeljebb </a:t>
            </a:r>
            <a:r>
              <a:rPr lang="hu-HU" sz="2000" dirty="0" smtClean="0"/>
              <a:t>64 </a:t>
            </a:r>
            <a:r>
              <a:rPr lang="hu-HU" sz="2000" dirty="0"/>
              <a:t>karakter hosszú</a:t>
            </a:r>
          </a:p>
          <a:p>
            <a:pPr marL="381000" indent="-381000" eaLnBrk="1" hangingPunct="1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ja-JP" sz="2000" dirty="0" smtClean="0">
              <a:ea typeface="ＭＳ Ｐゴシック" pitchFamily="34" charset="-128"/>
            </a:endParaRPr>
          </a:p>
        </p:txBody>
      </p:sp>
      <p:sp>
        <p:nvSpPr>
          <p:cNvPr id="32773" name="TextBox 3"/>
          <p:cNvSpPr txBox="1">
            <a:spLocks noChangeArrowheads="1"/>
          </p:cNvSpPr>
          <p:nvPr/>
        </p:nvSpPr>
        <p:spPr bwMode="auto">
          <a:xfrm>
            <a:off x="1770063" y="4487863"/>
            <a:ext cx="2671762" cy="1089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800" dirty="0"/>
              <a:t>Without </a:t>
            </a:r>
            <a:r>
              <a:rPr lang="en-US" sz="1800" dirty="0" smtClean="0"/>
              <a:t>names, network </a:t>
            </a:r>
            <a:r>
              <a:rPr lang="en-US" sz="1800" dirty="0"/>
              <a:t>devices are difficult to identify for configuration purposes.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75" y="377825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>
                <a:cs typeface="Arial" pitchFamily="34" charset="0"/>
              </a:rPr>
              <a:t>Állomásnevek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/>
              <a:t>Állomásnevek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08" t="21855" r="4708" b="-4055"/>
          <a:stretch/>
        </p:blipFill>
        <p:spPr bwMode="auto">
          <a:xfrm>
            <a:off x="3326267" y="1712685"/>
            <a:ext cx="4932362" cy="382474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3795" name="Rectangle 1"/>
          <p:cNvSpPr>
            <a:spLocks noChangeArrowheads="1"/>
          </p:cNvSpPr>
          <p:nvPr/>
        </p:nvSpPr>
        <p:spPr bwMode="auto">
          <a:xfrm>
            <a:off x="544513" y="2459038"/>
            <a:ext cx="2549525" cy="193899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lnSpc>
                <a:spcPct val="75000"/>
              </a:lnSpc>
            </a:pPr>
            <a:r>
              <a:rPr lang="en-US" sz="2000" dirty="0" err="1" smtClean="0">
                <a:cs typeface="Arial" charset="0"/>
              </a:rPr>
              <a:t>Állomásnevek</a:t>
            </a:r>
            <a:r>
              <a:rPr lang="en-US" sz="2000" dirty="0" smtClean="0">
                <a:cs typeface="Arial" charset="0"/>
              </a:rPr>
              <a:t> </a:t>
            </a:r>
            <a:r>
              <a:rPr lang="hu-HU" sz="2000" dirty="0" smtClean="0">
                <a:cs typeface="Arial" charset="0"/>
              </a:rPr>
              <a:t>segítségével a hálózati rendszergazda azonosítani tudja az eszközöket a hálózaton vagy interneten.</a:t>
            </a:r>
            <a:endParaRPr lang="en-US" sz="2000" dirty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9877" y="464911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>
                <a:cs typeface="Arial" pitchFamily="34" charset="0"/>
              </a:rPr>
              <a:t>Állomásnevek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Állomásnevek</a:t>
            </a:r>
            <a:r>
              <a:rPr lang="en-US" dirty="0"/>
              <a:t> </a:t>
            </a:r>
            <a:r>
              <a:rPr lang="en-US" dirty="0" err="1"/>
              <a:t>konfigurálása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77" y="1930399"/>
            <a:ext cx="8435876" cy="304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479199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>
                <a:cs typeface="Arial" pitchFamily="34" charset="0"/>
              </a:rPr>
              <a:t>Az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eszközkonfigurációhoz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való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hozzáférés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korlátozása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hozzáférés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biztonságossá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tétele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5843" name="Rectangle 1"/>
          <p:cNvSpPr>
            <a:spLocks noChangeArrowheads="1"/>
          </p:cNvSpPr>
          <p:nvPr/>
        </p:nvSpPr>
        <p:spPr bwMode="auto">
          <a:xfrm>
            <a:off x="471488" y="1587500"/>
            <a:ext cx="8077200" cy="3397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hu-HU" sz="2000" dirty="0"/>
              <a:t>A következő jelszavak kerülnek </a:t>
            </a:r>
            <a:r>
              <a:rPr lang="hu-HU" sz="2000" dirty="0" smtClean="0"/>
              <a:t>bemutatásra</a:t>
            </a:r>
            <a:r>
              <a:rPr lang="en-US" sz="2000" dirty="0" smtClean="0"/>
              <a:t>:</a:t>
            </a:r>
          </a:p>
          <a:p>
            <a:pPr algn="l">
              <a:defRPr/>
            </a:pPr>
            <a:endParaRPr lang="en-US" sz="2000" dirty="0" smtClean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  <a:defRPr/>
            </a:pPr>
            <a:r>
              <a:rPr lang="en-US" sz="2000" b="1" dirty="0">
                <a:latin typeface="+mn-lt"/>
              </a:rPr>
              <a:t>enable </a:t>
            </a:r>
            <a:r>
              <a:rPr lang="hu-HU" sz="2000" b="1" dirty="0">
                <a:latin typeface="+mn-lt"/>
              </a:rPr>
              <a:t>jelszó</a:t>
            </a:r>
            <a:r>
              <a:rPr lang="en-US" sz="2000" dirty="0">
                <a:latin typeface="+mn-lt"/>
              </a:rPr>
              <a:t> – </a:t>
            </a:r>
            <a:r>
              <a:rPr lang="en-US" sz="2000" dirty="0" err="1">
                <a:latin typeface="+mn-lt"/>
              </a:rPr>
              <a:t>Korlátozza</a:t>
            </a:r>
            <a:r>
              <a:rPr lang="en-US" sz="2000" dirty="0">
                <a:latin typeface="+mn-lt"/>
              </a:rPr>
              <a:t> a </a:t>
            </a:r>
            <a:r>
              <a:rPr lang="en-US" sz="2000" dirty="0" err="1">
                <a:latin typeface="+mn-lt"/>
              </a:rPr>
              <a:t>priviegizált</a:t>
            </a:r>
            <a:r>
              <a:rPr lang="en-US" sz="2000" dirty="0">
                <a:latin typeface="+mn-lt"/>
              </a:rPr>
              <a:t> EXEC </a:t>
            </a:r>
            <a:r>
              <a:rPr lang="en-US" sz="2000" dirty="0" err="1">
                <a:latin typeface="+mn-lt"/>
              </a:rPr>
              <a:t>módhoz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való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hozzáférést</a:t>
            </a:r>
            <a:endParaRPr lang="hu-HU" sz="2000" dirty="0">
              <a:latin typeface="+mn-lt"/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  <a:defRPr/>
            </a:pPr>
            <a:r>
              <a:rPr lang="en-US" sz="2000" b="1" dirty="0">
                <a:latin typeface="+mn-lt"/>
              </a:rPr>
              <a:t>enable secret</a:t>
            </a:r>
            <a:r>
              <a:rPr lang="hu-HU" sz="2000" b="1" dirty="0">
                <a:latin typeface="+mn-lt"/>
              </a:rPr>
              <a:t> jelszó</a:t>
            </a:r>
            <a:r>
              <a:rPr lang="en-US" sz="2000" dirty="0">
                <a:latin typeface="+mn-lt"/>
              </a:rPr>
              <a:t>  – </a:t>
            </a:r>
            <a:r>
              <a:rPr lang="en-US" sz="2000" dirty="0" err="1">
                <a:latin typeface="+mn-lt"/>
              </a:rPr>
              <a:t>Titkosított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jelszóval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védi</a:t>
            </a:r>
            <a:r>
              <a:rPr lang="en-US" sz="2000" dirty="0">
                <a:latin typeface="+mn-lt"/>
              </a:rPr>
              <a:t> a </a:t>
            </a:r>
            <a:r>
              <a:rPr lang="en-US" sz="2000" dirty="0" err="1">
                <a:latin typeface="+mn-lt"/>
              </a:rPr>
              <a:t>privilegizált</a:t>
            </a:r>
            <a:r>
              <a:rPr lang="en-US" sz="2000" dirty="0">
                <a:latin typeface="+mn-lt"/>
              </a:rPr>
              <a:t> EXEC </a:t>
            </a:r>
            <a:r>
              <a:rPr lang="en-US" sz="2000" dirty="0" err="1" smtClean="0">
                <a:latin typeface="+mn-lt"/>
              </a:rPr>
              <a:t>módot</a:t>
            </a:r>
            <a:endParaRPr lang="hu-HU" sz="2000" dirty="0" smtClean="0">
              <a:latin typeface="+mn-lt"/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  <a:defRPr/>
            </a:pPr>
            <a:r>
              <a:rPr lang="hu-HU" sz="2000" b="1" dirty="0" smtClean="0">
                <a:latin typeface="+mn-lt"/>
              </a:rPr>
              <a:t>Konzol jelszó</a:t>
            </a:r>
            <a:r>
              <a:rPr lang="en-US" sz="2000" dirty="0" smtClean="0">
                <a:latin typeface="+mn-lt"/>
              </a:rPr>
              <a:t>  </a:t>
            </a:r>
            <a:r>
              <a:rPr lang="en-US" sz="2000" dirty="0">
                <a:latin typeface="+mn-lt"/>
              </a:rPr>
              <a:t>– </a:t>
            </a:r>
            <a:r>
              <a:rPr lang="en-US" sz="2000" dirty="0" err="1">
                <a:latin typeface="+mn-lt"/>
              </a:rPr>
              <a:t>Korlátozza</a:t>
            </a:r>
            <a:r>
              <a:rPr lang="en-US" sz="2000" dirty="0">
                <a:latin typeface="+mn-lt"/>
              </a:rPr>
              <a:t> a </a:t>
            </a:r>
            <a:r>
              <a:rPr lang="en-US" sz="2000" dirty="0" err="1">
                <a:latin typeface="+mn-lt"/>
              </a:rPr>
              <a:t>konzol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kapcsolaton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történő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 smtClean="0">
                <a:latin typeface="+mn-lt"/>
              </a:rPr>
              <a:t>hozzáférés</a:t>
            </a:r>
            <a:r>
              <a:rPr lang="hu-HU" sz="2000" dirty="0" smtClean="0">
                <a:latin typeface="+mn-lt"/>
              </a:rPr>
              <a:t>t</a:t>
            </a:r>
            <a:endParaRPr lang="en-US" sz="2000" dirty="0" smtClean="0">
              <a:latin typeface="+mn-lt"/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  <a:defRPr/>
            </a:pPr>
            <a:r>
              <a:rPr lang="en-US" sz="2000" b="1" dirty="0" smtClean="0">
                <a:latin typeface="+mn-lt"/>
              </a:rPr>
              <a:t>VTY </a:t>
            </a:r>
            <a:r>
              <a:rPr lang="hu-HU" sz="2000" b="1" dirty="0" smtClean="0">
                <a:latin typeface="+mn-lt"/>
              </a:rPr>
              <a:t>jelszó </a:t>
            </a:r>
            <a:r>
              <a:rPr lang="en-US" sz="2000" dirty="0" smtClean="0">
                <a:latin typeface="+mn-lt"/>
              </a:rPr>
              <a:t>– </a:t>
            </a:r>
            <a:r>
              <a:rPr lang="hu-HU" sz="2000" dirty="0"/>
              <a:t>Korlátozza a Telnet-en történő hozzáférést</a:t>
            </a:r>
            <a:endParaRPr lang="en-US" sz="2000" dirty="0">
              <a:latin typeface="+mn-lt"/>
            </a:endParaRPr>
          </a:p>
        </p:txBody>
      </p:sp>
      <p:sp>
        <p:nvSpPr>
          <p:cNvPr id="35844" name="Rectangle 1"/>
          <p:cNvSpPr>
            <a:spLocks noChangeArrowheads="1"/>
          </p:cNvSpPr>
          <p:nvPr/>
        </p:nvSpPr>
        <p:spPr bwMode="auto">
          <a:xfrm>
            <a:off x="587375" y="5983288"/>
            <a:ext cx="7512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hu-HU" sz="2000" b="1" dirty="0"/>
              <a:t>Megjegyzés:</a:t>
            </a:r>
            <a:r>
              <a:rPr lang="hu-HU" sz="2000" dirty="0"/>
              <a:t>A kurzus laborgyakorlataiban legtöbbször egyszerű jelszavakat használunk, mint például</a:t>
            </a:r>
            <a:r>
              <a:rPr lang="hu-HU" sz="2000" b="1" dirty="0"/>
              <a:t> </a:t>
            </a:r>
            <a:r>
              <a:rPr lang="hu-HU" sz="2000" b="1" dirty="0" err="1"/>
              <a:t>cisco</a:t>
            </a:r>
            <a:r>
              <a:rPr lang="hu-HU" sz="2000" dirty="0"/>
              <a:t> </a:t>
            </a:r>
            <a:r>
              <a:rPr lang="hu-HU" sz="2000" dirty="0" smtClean="0"/>
              <a:t>vagy </a:t>
            </a:r>
            <a:r>
              <a:rPr lang="hu-HU" sz="2000" b="1" dirty="0" err="1" smtClean="0"/>
              <a:t>class</a:t>
            </a:r>
            <a:r>
              <a:rPr lang="hu-HU" sz="2000" dirty="0"/>
              <a:t>.</a:t>
            </a:r>
            <a:endParaRPr lang="en-US" sz="200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46868" y="493713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>
                <a:cs typeface="Arial" pitchFamily="34" charset="0"/>
              </a:rPr>
              <a:t>Az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eszközkonfigurációhoz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való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hozzáférés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korlátozása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 privilegizált EXEC mód védelme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6867" name="Rectangle 6"/>
          <p:cNvSpPr>
            <a:spLocks noGrp="1" noChangeArrowheads="1"/>
          </p:cNvSpPr>
          <p:nvPr>
            <p:ph idx="1"/>
          </p:nvPr>
        </p:nvSpPr>
        <p:spPr>
          <a:xfrm>
            <a:off x="428263" y="1752600"/>
            <a:ext cx="8004537" cy="1371600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hu-HU" sz="2000" dirty="0" smtClean="0">
                <a:cs typeface="Arial" charset="0"/>
              </a:rPr>
              <a:t>Használjuk inkább az</a:t>
            </a:r>
            <a:r>
              <a:rPr lang="en-US" sz="2000" dirty="0" smtClean="0">
                <a:cs typeface="Arial" charset="0"/>
              </a:rPr>
              <a:t> 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enable secret </a:t>
            </a:r>
            <a:r>
              <a:rPr lang="hu-HU" sz="2000" dirty="0" smtClean="0">
                <a:cs typeface="Arial" charset="0"/>
              </a:rPr>
              <a:t>parancsot</a:t>
            </a:r>
            <a:r>
              <a:rPr lang="en-US" sz="2000" dirty="0" smtClean="0">
                <a:cs typeface="Arial" charset="0"/>
              </a:rPr>
              <a:t>, </a:t>
            </a:r>
            <a:r>
              <a:rPr lang="hu-HU" sz="2000" dirty="0" smtClean="0">
                <a:cs typeface="Arial" charset="0"/>
              </a:rPr>
              <a:t>ne az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enable password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000" dirty="0" smtClean="0">
                <a:cs typeface="Arial" charset="0"/>
              </a:rPr>
              <a:t>parancsot</a:t>
            </a:r>
            <a:r>
              <a:rPr lang="en-US" sz="2000" dirty="0" smtClean="0">
                <a:cs typeface="Arial" charset="0"/>
              </a:rPr>
              <a:t>.</a:t>
            </a:r>
          </a:p>
          <a:p>
            <a:pPr eaLnBrk="1" hangingPunct="1">
              <a:lnSpc>
                <a:spcPct val="100000"/>
              </a:lnSpc>
            </a:pPr>
            <a:r>
              <a:rPr lang="hu-HU" sz="2000" dirty="0" smtClean="0">
                <a:cs typeface="Arial" charset="0"/>
              </a:rPr>
              <a:t>Az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enable secret</a:t>
            </a:r>
            <a:r>
              <a:rPr lang="en-US" sz="2000" dirty="0" smtClean="0">
                <a:cs typeface="Arial" charset="0"/>
              </a:rPr>
              <a:t> </a:t>
            </a:r>
            <a:r>
              <a:rPr lang="hu-HU" sz="2000" dirty="0"/>
              <a:t> parancs nagyobb biztonságot nyújt, mivel titkosítja a jelszót</a:t>
            </a:r>
            <a:r>
              <a:rPr lang="en-US" sz="2000" dirty="0" smtClean="0">
                <a:cs typeface="Arial" charset="0"/>
              </a:rPr>
              <a:t>.</a:t>
            </a:r>
          </a:p>
        </p:txBody>
      </p:sp>
      <p:pic>
        <p:nvPicPr>
          <p:cNvPr id="3686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98602"/>
            <a:ext cx="68580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8" y="1368425"/>
            <a:ext cx="6265862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08215" y="428625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>
                <a:cs typeface="Arial" pitchFamily="34" charset="0"/>
              </a:rPr>
              <a:t>Az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eszközkonfigurációhoz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való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hozzáférés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korlátozása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 felhasználói EXEC mód védelme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294" y="3956050"/>
            <a:ext cx="783793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6538" indent="-236538" algn="l" defTabSz="814388" eaLnBrk="1" hangingPunct="1">
              <a:lnSpc>
                <a:spcPct val="100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  <a:defRPr/>
            </a:pPr>
            <a:r>
              <a:rPr lang="en-US" sz="2000" dirty="0">
                <a:latin typeface="+mn-lt"/>
                <a:cs typeface="Arial" charset="0"/>
              </a:rPr>
              <a:t>A </a:t>
            </a:r>
            <a:r>
              <a:rPr lang="en-US" sz="2000" dirty="0" err="1">
                <a:latin typeface="+mn-lt"/>
                <a:cs typeface="Arial" charset="0"/>
              </a:rPr>
              <a:t>hálózati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eszközök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konzol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portját</a:t>
            </a:r>
            <a:r>
              <a:rPr lang="en-US" sz="2000" dirty="0">
                <a:latin typeface="+mn-lt"/>
                <a:cs typeface="Arial" charset="0"/>
              </a:rPr>
              <a:t> is </a:t>
            </a:r>
            <a:r>
              <a:rPr lang="en-US" sz="2000" dirty="0" err="1">
                <a:latin typeface="+mn-lt"/>
                <a:cs typeface="Arial" charset="0"/>
              </a:rPr>
              <a:t>védeni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kell</a:t>
            </a:r>
            <a:r>
              <a:rPr lang="en-US" sz="2000" dirty="0">
                <a:latin typeface="+mn-lt"/>
                <a:cs typeface="Arial" charset="0"/>
              </a:rPr>
              <a:t>, </a:t>
            </a:r>
            <a:r>
              <a:rPr lang="en-US" sz="2000" dirty="0" err="1">
                <a:latin typeface="+mn-lt"/>
                <a:cs typeface="Arial" charset="0"/>
              </a:rPr>
              <a:t>minimálisan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egy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erős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felhasználói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jelszóval</a:t>
            </a:r>
            <a:r>
              <a:rPr lang="en-US" sz="2000" dirty="0">
                <a:latin typeface="+mn-lt"/>
                <a:cs typeface="Arial" charset="0"/>
              </a:rPr>
              <a:t>. </a:t>
            </a:r>
            <a:r>
              <a:rPr lang="en-US" sz="2000" dirty="0" err="1">
                <a:latin typeface="+mn-lt"/>
                <a:cs typeface="Arial" charset="0"/>
              </a:rPr>
              <a:t>Ez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megakadályozza</a:t>
            </a:r>
            <a:r>
              <a:rPr lang="en-US" sz="2000" dirty="0">
                <a:latin typeface="+mn-lt"/>
                <a:cs typeface="Arial" charset="0"/>
              </a:rPr>
              <a:t>, </a:t>
            </a:r>
            <a:r>
              <a:rPr lang="en-US" sz="2000" dirty="0" err="1">
                <a:latin typeface="+mn-lt"/>
                <a:cs typeface="Arial" charset="0"/>
              </a:rPr>
              <a:t>hogy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egy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kábellel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fizikailag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csatlakozó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jogosulatlan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személy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hozzáférjen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az</a:t>
            </a:r>
            <a:r>
              <a:rPr lang="en-US" sz="2000" dirty="0">
                <a:latin typeface="+mn-lt"/>
                <a:cs typeface="Arial" charset="0"/>
              </a:rPr>
              <a:t> </a:t>
            </a:r>
            <a:r>
              <a:rPr lang="en-US" sz="2000" dirty="0" err="1">
                <a:latin typeface="+mn-lt"/>
                <a:cs typeface="Arial" charset="0"/>
              </a:rPr>
              <a:t>eszközhöz</a:t>
            </a:r>
            <a:r>
              <a:rPr lang="en-US" sz="2000" dirty="0">
                <a:latin typeface="+mn-lt"/>
                <a:cs typeface="Arial" charset="0"/>
              </a:rPr>
              <a:t>.</a:t>
            </a:r>
          </a:p>
          <a:p>
            <a:pPr marL="236538" indent="-236538" algn="l" defTabSz="814388" eaLnBrk="1" hangingPunct="1">
              <a:lnSpc>
                <a:spcPct val="100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  <a:defRPr/>
            </a:pPr>
            <a:r>
              <a:rPr lang="hu-HU" sz="2000" dirty="0">
                <a:latin typeface="+mn-lt"/>
                <a:cs typeface="Arial" charset="0"/>
              </a:rPr>
              <a:t>A </a:t>
            </a:r>
            <a:r>
              <a:rPr lang="hu-HU" sz="2000" dirty="0" err="1">
                <a:latin typeface="+mn-lt"/>
                <a:cs typeface="Arial" charset="0"/>
              </a:rPr>
              <a:t>vty</a:t>
            </a:r>
            <a:r>
              <a:rPr lang="hu-HU" sz="2000" dirty="0">
                <a:latin typeface="+mn-lt"/>
                <a:cs typeface="Arial" charset="0"/>
              </a:rPr>
              <a:t> vonalak a Cisco eszközök Telnet-en keresztül történő elérésére szolgálnak. A Cisco forgalomirányítók </a:t>
            </a:r>
            <a:r>
              <a:rPr lang="hu-HU" sz="2000" dirty="0" err="1">
                <a:latin typeface="+mn-lt"/>
                <a:cs typeface="Arial" charset="0"/>
              </a:rPr>
              <a:t>vty-vonalainak</a:t>
            </a:r>
            <a:r>
              <a:rPr lang="hu-HU" sz="2000" dirty="0">
                <a:latin typeface="+mn-lt"/>
                <a:cs typeface="Arial" charset="0"/>
              </a:rPr>
              <a:t> száma függ a forgalomirányító típusától és az IOS verziójától.</a:t>
            </a:r>
            <a:r>
              <a:rPr lang="hu-HU" sz="2000" dirty="0"/>
              <a:t> 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64672" y="541338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>
                <a:cs typeface="Arial" pitchFamily="34" charset="0"/>
              </a:rPr>
              <a:t>Az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eszközkonfigurációhoz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való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hozzáférés</a:t>
            </a:r>
            <a:r>
              <a:rPr lang="en-US" sz="1800" dirty="0" smtClean="0">
                <a:cs typeface="Arial" pitchFamily="34" charset="0"/>
              </a:rPr>
              <a:t> </a:t>
            </a:r>
            <a:r>
              <a:rPr lang="en-US" sz="1800" dirty="0" err="1" smtClean="0">
                <a:cs typeface="Arial" pitchFamily="34" charset="0"/>
              </a:rPr>
              <a:t>korlátozása</a:t>
            </a:r>
            <a:r>
              <a:rPr lang="en-US" dirty="0"/>
              <a:t/>
            </a:r>
            <a:br>
              <a:rPr lang="en-US" dirty="0"/>
            </a:br>
            <a:r>
              <a:rPr lang="hu-HU" dirty="0"/>
              <a:t>Jelszó </a:t>
            </a:r>
            <a:r>
              <a:rPr lang="hu-HU" dirty="0" smtClean="0"/>
              <a:t>titkosítás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9538"/>
            <a:ext cx="6894513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6634163" y="1517650"/>
            <a:ext cx="2365375" cy="5340350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sz="1800" b="1" dirty="0" smtClean="0">
                <a:cs typeface="Arial" pitchFamily="34" charset="0"/>
              </a:rPr>
              <a:t>service password-encryption</a:t>
            </a:r>
            <a:endParaRPr lang="en-US" sz="1800" dirty="0">
              <a:cs typeface="Arial" pitchFamily="34" charset="0"/>
            </a:endParaRPr>
          </a:p>
          <a:p>
            <a:pPr eaLnBrk="1" hangingPunct="1">
              <a:lnSpc>
                <a:spcPct val="75000"/>
              </a:lnSpc>
              <a:defRPr/>
            </a:pPr>
            <a:r>
              <a:rPr lang="hu-HU" sz="2000" dirty="0" smtClean="0"/>
              <a:t>Megakadályozza a </a:t>
            </a:r>
            <a:r>
              <a:rPr lang="hu-HU" sz="2000" dirty="0"/>
              <a:t>jelszavak egyszerű szövegként való megjelenítését a </a:t>
            </a:r>
            <a:r>
              <a:rPr lang="hu-HU" sz="2000" dirty="0" smtClean="0"/>
              <a:t>konfigurációban</a:t>
            </a:r>
            <a:r>
              <a:rPr lang="hu-HU" sz="2000" dirty="0"/>
              <a:t>.</a:t>
            </a:r>
            <a:r>
              <a:rPr lang="en-US" sz="2000" b="1" dirty="0" smtClean="0"/>
              <a:t> </a:t>
            </a:r>
            <a:endParaRPr lang="en-US" sz="2000" b="1" dirty="0"/>
          </a:p>
          <a:p>
            <a:pPr eaLnBrk="1" hangingPunct="1">
              <a:lnSpc>
                <a:spcPct val="75000"/>
              </a:lnSpc>
              <a:defRPr/>
            </a:pPr>
            <a:r>
              <a:rPr lang="hu-HU" sz="2000" dirty="0"/>
              <a:t>Ez a titkosítás csak a konfigurációs állományban lévő jelszavakra </a:t>
            </a:r>
            <a:r>
              <a:rPr lang="hu-HU" sz="2000" dirty="0" smtClean="0"/>
              <a:t>vonatkozik</a:t>
            </a:r>
          </a:p>
          <a:p>
            <a:pPr eaLnBrk="1" hangingPunct="1">
              <a:lnSpc>
                <a:spcPct val="75000"/>
              </a:lnSpc>
              <a:defRPr/>
            </a:pPr>
            <a:r>
              <a:rPr lang="hu-HU" sz="2000" dirty="0" smtClean="0"/>
              <a:t>A titkosítási </a:t>
            </a:r>
            <a:r>
              <a:rPr lang="hu-HU" sz="2000" dirty="0"/>
              <a:t>szolgáltatás leállítása </a:t>
            </a:r>
            <a:r>
              <a:rPr lang="hu-HU" sz="2000" dirty="0" smtClean="0"/>
              <a:t>után azok </a:t>
            </a:r>
            <a:r>
              <a:rPr lang="hu-HU" sz="2000" dirty="0"/>
              <a:t>nem kerülnek visszaállításra.</a:t>
            </a:r>
            <a:endParaRPr lang="en-US" altLang="ja-JP" sz="2000" dirty="0">
              <a:ea typeface="ＭＳ Ｐゴシック" pitchFamily="34" charset="-128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64898" y="421142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/>
              <a:t>Az</a:t>
            </a:r>
            <a:r>
              <a:rPr lang="en-US" sz="1800" dirty="0" smtClean="0"/>
              <a:t> </a:t>
            </a:r>
            <a:r>
              <a:rPr lang="en-US" sz="1800" dirty="0" err="1" smtClean="0"/>
              <a:t>eszközkonfigurációhoz</a:t>
            </a:r>
            <a:r>
              <a:rPr lang="en-US" sz="1800" dirty="0" smtClean="0"/>
              <a:t> </a:t>
            </a:r>
            <a:r>
              <a:rPr lang="en-US" sz="1800" dirty="0" err="1" smtClean="0"/>
              <a:t>való</a:t>
            </a:r>
            <a:r>
              <a:rPr lang="en-US" sz="1800" dirty="0" smtClean="0"/>
              <a:t> </a:t>
            </a:r>
            <a:r>
              <a:rPr lang="en-US" sz="1800" dirty="0" err="1" smtClean="0"/>
              <a:t>hozzáférés</a:t>
            </a:r>
            <a:r>
              <a:rPr lang="en-US" sz="1800" dirty="0" smtClean="0"/>
              <a:t> </a:t>
            </a:r>
            <a:r>
              <a:rPr lang="en-US" sz="1800" dirty="0" err="1" smtClean="0"/>
              <a:t>korlátozása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Banner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üzenetek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9939" name="Rectangle 6"/>
          <p:cNvSpPr>
            <a:spLocks noGrp="1" noChangeArrowheads="1"/>
          </p:cNvSpPr>
          <p:nvPr>
            <p:ph idx="1"/>
          </p:nvPr>
        </p:nvSpPr>
        <p:spPr>
          <a:xfrm>
            <a:off x="406400" y="1569809"/>
            <a:ext cx="2598738" cy="5122863"/>
          </a:xfrm>
        </p:spPr>
        <p:txBody>
          <a:bodyPr/>
          <a:lstStyle/>
          <a:p>
            <a:pPr eaLnBrk="1" hangingPunct="1">
              <a:lnSpc>
                <a:spcPct val="75000"/>
              </a:lnSpc>
            </a:pPr>
            <a:r>
              <a:rPr lang="hu-HU" dirty="0"/>
              <a:t>A bannerek fontos szerepet játszhatnak egy hivatalos eljárásban, ahol valakit egy eszköz feltörésével vádolnak</a:t>
            </a:r>
            <a:r>
              <a:rPr lang="hu-HU" dirty="0" smtClean="0"/>
              <a:t>.</a:t>
            </a:r>
          </a:p>
          <a:p>
            <a:pPr eaLnBrk="1" hangingPunct="1">
              <a:lnSpc>
                <a:spcPct val="75000"/>
              </a:lnSpc>
            </a:pPr>
            <a:r>
              <a:rPr lang="hu-HU" dirty="0"/>
              <a:t>Bármely "üdvözöljük" vagy "meghívjuk" tartalmú szövegezés nem helyénvaló</a:t>
            </a:r>
            <a:r>
              <a:rPr lang="hu-HU" dirty="0" smtClean="0"/>
              <a:t>.</a:t>
            </a:r>
          </a:p>
          <a:p>
            <a:pPr eaLnBrk="1" hangingPunct="1">
              <a:lnSpc>
                <a:spcPct val="75000"/>
              </a:lnSpc>
            </a:pPr>
            <a:endParaRPr lang="en-US" altLang="ja-JP" sz="2000" dirty="0" smtClean="0">
              <a:ea typeface="ＭＳ Ｐゴシック" pitchFamily="34" charset="-128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694" y="1549397"/>
            <a:ext cx="5524500" cy="457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420688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/>
              <a:t>Konfiguráció</a:t>
            </a:r>
            <a:r>
              <a:rPr lang="en-US" sz="1800" dirty="0"/>
              <a:t> </a:t>
            </a:r>
            <a:r>
              <a:rPr lang="en-US" sz="1800" dirty="0" err="1"/>
              <a:t>mentése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Konfigurációs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fájlok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6867" name="Rectangle 6"/>
          <p:cNvSpPr>
            <a:spLocks noGrp="1" noChangeArrowheads="1"/>
          </p:cNvSpPr>
          <p:nvPr>
            <p:ph idx="1"/>
          </p:nvPr>
        </p:nvSpPr>
        <p:spPr>
          <a:xfrm>
            <a:off x="5347505" y="812353"/>
            <a:ext cx="3607584" cy="5232400"/>
          </a:xfrm>
        </p:spPr>
        <p:txBody>
          <a:bodyPr/>
          <a:lstStyle/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hu-HU" dirty="0" smtClean="0"/>
              <a:t>Gyári alapértelmezett beállítás visszaállítása: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hu-HU" sz="2000" dirty="0" smtClean="0"/>
              <a:t/>
            </a:r>
            <a:br>
              <a:rPr lang="hu-HU" sz="2000" dirty="0" smtClean="0"/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Switch# erase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startup-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hu-HU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b="1" dirty="0" smtClean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Switch</a:t>
            </a:r>
            <a:r>
              <a:rPr lang="en-US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  delete vlan.dat 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Switch# reload</a:t>
            </a:r>
          </a:p>
        </p:txBody>
      </p:sp>
      <p:pic>
        <p:nvPicPr>
          <p:cNvPr id="4096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29" y="1404938"/>
            <a:ext cx="5210175" cy="463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435882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/>
              <a:t>Konfiguráció</a:t>
            </a:r>
            <a:r>
              <a:rPr lang="en-US" sz="1800" dirty="0"/>
              <a:t> </a:t>
            </a:r>
            <a:r>
              <a:rPr lang="en-US" sz="1800" dirty="0" err="1"/>
              <a:t>mentése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Szövegek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rögzítése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199" y="1620157"/>
            <a:ext cx="4327363" cy="40946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620157"/>
            <a:ext cx="4181475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smtClean="0"/>
              <a:t>9. óra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2592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bg1"/>
                </a:solidFill>
                <a:cs typeface="Arial" pitchFamily="34" charset="0"/>
              </a:rPr>
              <a:t>2.3 </a:t>
            </a:r>
            <a:r>
              <a:rPr lang="en-US" sz="2400" dirty="0" err="1" smtClean="0">
                <a:solidFill>
                  <a:schemeClr val="bg1"/>
                </a:solidFill>
                <a:cs typeface="Arial" pitchFamily="34" charset="0"/>
              </a:rPr>
              <a:t>Címzési</a:t>
            </a:r>
            <a:r>
              <a:rPr lang="en-US" sz="24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cs typeface="Arial" pitchFamily="34" charset="0"/>
              </a:rPr>
              <a:t>sémák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27686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1189038"/>
            <a:ext cx="4918075" cy="541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38603" y="479425"/>
            <a:ext cx="8145463" cy="838200"/>
          </a:xfrm>
        </p:spPr>
        <p:txBody>
          <a:bodyPr/>
          <a:lstStyle/>
          <a:p>
            <a:r>
              <a:rPr lang="en-US" sz="1800" dirty="0" err="1" smtClean="0"/>
              <a:t>Portok</a:t>
            </a:r>
            <a:r>
              <a:rPr lang="en-US" sz="1800" dirty="0" smtClean="0"/>
              <a:t> </a:t>
            </a:r>
            <a:r>
              <a:rPr lang="en-US" sz="1800" dirty="0" err="1" smtClean="0"/>
              <a:t>és</a:t>
            </a:r>
            <a:r>
              <a:rPr lang="en-US" sz="1800" dirty="0" smtClean="0"/>
              <a:t> </a:t>
            </a:r>
            <a:r>
              <a:rPr lang="en-US" sz="1800" dirty="0" err="1" smtClean="0"/>
              <a:t>címek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hu-HU" dirty="0"/>
              <a:t>Eszközök IP-címzése</a:t>
            </a:r>
          </a:p>
        </p:txBody>
      </p:sp>
      <p:sp>
        <p:nvSpPr>
          <p:cNvPr id="44035" name="Rectangle 6"/>
          <p:cNvSpPr>
            <a:spLocks noGrp="1" noChangeArrowheads="1"/>
          </p:cNvSpPr>
          <p:nvPr>
            <p:ph idx="1"/>
          </p:nvPr>
        </p:nvSpPr>
        <p:spPr>
          <a:xfrm>
            <a:off x="437924" y="1449388"/>
            <a:ext cx="3205162" cy="5153025"/>
          </a:xfrm>
        </p:spPr>
        <p:txBody>
          <a:bodyPr/>
          <a:lstStyle/>
          <a:p>
            <a:pPr eaLnBrk="1" hangingPunct="1">
              <a:lnSpc>
                <a:spcPct val="75000"/>
              </a:lnSpc>
            </a:pPr>
            <a:r>
              <a:rPr lang="en-US" sz="2000" dirty="0">
                <a:cs typeface="Arial" charset="0"/>
              </a:rPr>
              <a:t>Minden </a:t>
            </a:r>
            <a:r>
              <a:rPr lang="en-US" sz="2000" dirty="0" err="1">
                <a:cs typeface="Arial" charset="0"/>
              </a:rPr>
              <a:t>hálózati</a:t>
            </a:r>
            <a:r>
              <a:rPr lang="en-US" sz="2000" dirty="0">
                <a:cs typeface="Arial" charset="0"/>
              </a:rPr>
              <a:t> </a:t>
            </a:r>
            <a:r>
              <a:rPr lang="en-US" sz="2000" dirty="0" err="1">
                <a:cs typeface="Arial" charset="0"/>
              </a:rPr>
              <a:t>végberendezésnek</a:t>
            </a:r>
            <a:r>
              <a:rPr lang="en-US" sz="2000" dirty="0">
                <a:cs typeface="Arial" charset="0"/>
              </a:rPr>
              <a:t> </a:t>
            </a:r>
            <a:r>
              <a:rPr lang="en-US" sz="2000" dirty="0" err="1">
                <a:cs typeface="Arial" charset="0"/>
              </a:rPr>
              <a:t>rendelkeznie</a:t>
            </a:r>
            <a:r>
              <a:rPr lang="en-US" sz="2000" dirty="0">
                <a:cs typeface="Arial" charset="0"/>
              </a:rPr>
              <a:t> </a:t>
            </a:r>
            <a:r>
              <a:rPr lang="en-US" sz="2000" dirty="0" err="1">
                <a:cs typeface="Arial" charset="0"/>
              </a:rPr>
              <a:t>kell</a:t>
            </a:r>
            <a:r>
              <a:rPr lang="en-US" sz="2000" dirty="0">
                <a:cs typeface="Arial" charset="0"/>
              </a:rPr>
              <a:t> IP-</a:t>
            </a:r>
            <a:r>
              <a:rPr lang="en-US" sz="2000" dirty="0" err="1">
                <a:cs typeface="Arial" charset="0"/>
              </a:rPr>
              <a:t>címmel</a:t>
            </a:r>
            <a:r>
              <a:rPr lang="en-US" sz="2000" dirty="0" smtClean="0">
                <a:cs typeface="Arial" charset="0"/>
              </a:rPr>
              <a:t>.</a:t>
            </a:r>
            <a:endParaRPr lang="hu-HU" sz="2000" dirty="0" smtClean="0">
              <a:cs typeface="Arial" charset="0"/>
            </a:endParaRPr>
          </a:p>
          <a:p>
            <a:pPr eaLnBrk="1" hangingPunct="1">
              <a:lnSpc>
                <a:spcPct val="75000"/>
              </a:lnSpc>
            </a:pPr>
            <a:r>
              <a:rPr lang="hu-HU" sz="2000" dirty="0"/>
              <a:t>Az IPv4-címek írásmódját pontozott decimális jelölésnek nevezik</a:t>
            </a:r>
            <a:r>
              <a:rPr lang="en-US" sz="2000" dirty="0" smtClean="0"/>
              <a:t>.</a:t>
            </a:r>
            <a:endParaRPr lang="en-US" sz="2000" i="1" dirty="0" smtClean="0"/>
          </a:p>
          <a:p>
            <a:pPr eaLnBrk="1" hangingPunct="1">
              <a:lnSpc>
                <a:spcPct val="75000"/>
              </a:lnSpc>
            </a:pPr>
            <a:r>
              <a:rPr lang="hu-HU" sz="2000" dirty="0" smtClean="0"/>
              <a:t>Négy darab </a:t>
            </a:r>
            <a:r>
              <a:rPr lang="hu-HU" sz="2000" dirty="0"/>
              <a:t>0-255 közötti számmal ábrázolják</a:t>
            </a:r>
            <a:r>
              <a:rPr lang="en-US" sz="2000" dirty="0" smtClean="0"/>
              <a:t>.</a:t>
            </a:r>
          </a:p>
          <a:p>
            <a:pPr eaLnBrk="1" hangingPunct="1">
              <a:lnSpc>
                <a:spcPct val="75000"/>
              </a:lnSpc>
            </a:pPr>
            <a:r>
              <a:rPr lang="hu-HU" sz="2000" dirty="0"/>
              <a:t>Minden IP-címhez tartozik egy alhálózati maszk</a:t>
            </a:r>
            <a:r>
              <a:rPr lang="hu-HU" sz="2000" dirty="0" smtClean="0"/>
              <a:t>.</a:t>
            </a:r>
            <a:endParaRPr lang="en-US" sz="2000" dirty="0" smtClean="0"/>
          </a:p>
          <a:p>
            <a:pPr eaLnBrk="1" hangingPunct="1">
              <a:lnSpc>
                <a:spcPct val="75000"/>
              </a:lnSpc>
            </a:pPr>
            <a:r>
              <a:rPr lang="hu-HU" sz="2000" dirty="0"/>
              <a:t>IP-cím rendelhető a készülékek fizikai </a:t>
            </a:r>
            <a:r>
              <a:rPr lang="hu-HU" sz="2000" dirty="0" err="1"/>
              <a:t>portjaihoz</a:t>
            </a:r>
            <a:r>
              <a:rPr lang="hu-HU" sz="2000" dirty="0"/>
              <a:t> és virtuális interfészeihez </a:t>
            </a:r>
            <a:r>
              <a:rPr lang="hu-HU" sz="2000" dirty="0" smtClean="0"/>
              <a:t>is.</a:t>
            </a:r>
            <a:endParaRPr lang="en-US" altLang="ja-JP" sz="2000" dirty="0" smtClean="0">
              <a:ea typeface="ＭＳ Ｐゴシック" pitchFamily="34" charset="-128"/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99269" y="435882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/>
              <a:t>Portok</a:t>
            </a:r>
            <a:r>
              <a:rPr lang="en-US" sz="1800" dirty="0" smtClean="0"/>
              <a:t> </a:t>
            </a:r>
            <a:r>
              <a:rPr lang="en-US" sz="1800" dirty="0" err="1" smtClean="0"/>
              <a:t>és</a:t>
            </a:r>
            <a:r>
              <a:rPr lang="en-US" sz="1800" dirty="0" smtClean="0"/>
              <a:t> </a:t>
            </a:r>
            <a:r>
              <a:rPr lang="en-US" sz="1800" dirty="0" err="1" smtClean="0"/>
              <a:t>címek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Interfészek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és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portok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45059" name="Rectangle 6"/>
          <p:cNvSpPr>
            <a:spLocks noGrp="1" noChangeArrowheads="1"/>
          </p:cNvSpPr>
          <p:nvPr>
            <p:ph idx="1"/>
          </p:nvPr>
        </p:nvSpPr>
        <p:spPr>
          <a:xfrm>
            <a:off x="507092" y="1378857"/>
            <a:ext cx="8216900" cy="5007656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hu-HU" sz="2000" dirty="0" smtClean="0"/>
              <a:t>Az Ethernet </a:t>
            </a:r>
            <a:r>
              <a:rPr lang="hu-HU" sz="2000" dirty="0"/>
              <a:t>a leggyakoribb helyi hálózati </a:t>
            </a:r>
            <a:r>
              <a:rPr lang="hu-HU" sz="2000" dirty="0" smtClean="0"/>
              <a:t>(LAN</a:t>
            </a:r>
            <a:r>
              <a:rPr lang="hu-HU" sz="2000" dirty="0"/>
              <a:t>) kapcsolódási mód</a:t>
            </a:r>
            <a:r>
              <a:rPr lang="hu-HU" sz="2000" dirty="0" smtClean="0"/>
              <a:t>.</a:t>
            </a:r>
            <a:endParaRPr lang="en-US" sz="2000" dirty="0" smtClean="0"/>
          </a:p>
          <a:p>
            <a:pPr eaLnBrk="1" hangingPunct="1">
              <a:lnSpc>
                <a:spcPct val="100000"/>
              </a:lnSpc>
            </a:pPr>
            <a:r>
              <a:rPr lang="hu-HU" sz="2000" dirty="0"/>
              <a:t>Ethernet portok vannak azokon a végberendezéseken, kapcsolókon és egyéb hálózati eszközökön, melyek kábellel csatlakoznak a fizikai hálózathoz. </a:t>
            </a:r>
            <a:endParaRPr lang="hu-HU" sz="2000" dirty="0" smtClean="0"/>
          </a:p>
          <a:p>
            <a:pPr eaLnBrk="1" hangingPunct="1">
              <a:lnSpc>
                <a:spcPct val="100000"/>
              </a:lnSpc>
            </a:pPr>
            <a:r>
              <a:rPr lang="hu-HU" sz="2000" dirty="0" smtClean="0"/>
              <a:t>A </a:t>
            </a:r>
            <a:r>
              <a:rPr lang="hu-HU" sz="2000" dirty="0"/>
              <a:t>Cisco IOS kapcsolók nem csak fizikai portokkal rendelkeznek, hanem egy vagy több virtuális </a:t>
            </a:r>
            <a:r>
              <a:rPr lang="hu-HU" sz="2000" dirty="0" err="1"/>
              <a:t>interfésszel</a:t>
            </a:r>
            <a:r>
              <a:rPr lang="hu-HU" sz="2000" dirty="0"/>
              <a:t> (</a:t>
            </a:r>
            <a:r>
              <a:rPr lang="hu-HU" sz="2000" dirty="0" err="1"/>
              <a:t>Switch</a:t>
            </a:r>
            <a:r>
              <a:rPr lang="hu-HU" sz="2000" dirty="0"/>
              <a:t> </a:t>
            </a:r>
            <a:r>
              <a:rPr lang="hu-HU" sz="2000" dirty="0" err="1"/>
              <a:t>Virtual</a:t>
            </a:r>
            <a:r>
              <a:rPr lang="hu-HU" sz="2000" dirty="0"/>
              <a:t> </a:t>
            </a:r>
            <a:r>
              <a:rPr lang="hu-HU" sz="2000" dirty="0" err="1"/>
              <a:t>Interface</a:t>
            </a:r>
            <a:r>
              <a:rPr lang="hu-HU" sz="2000" dirty="0"/>
              <a:t>, SVI) is. Ezek az interfészek nem kötődnek az eszköz fizikai hardver elemeihez, az IOS hozza létre őket.</a:t>
            </a:r>
            <a:r>
              <a:rPr lang="en-US" sz="2000" dirty="0" smtClean="0"/>
              <a:t>.</a:t>
            </a:r>
          </a:p>
          <a:p>
            <a:pPr eaLnBrk="1" hangingPunct="1">
              <a:lnSpc>
                <a:spcPct val="100000"/>
              </a:lnSpc>
            </a:pPr>
            <a:r>
              <a:rPr lang="hu-HU" sz="2000" dirty="0"/>
              <a:t> A virtuális interfész (SVI) lehetőséget biztosít a kapcsoló távoli elérésére IPv4-hálózaton keresztül</a:t>
            </a:r>
            <a:r>
              <a:rPr lang="hu-HU" sz="2000" dirty="0" smtClean="0"/>
              <a:t>.</a:t>
            </a:r>
            <a:endParaRPr lang="en-US" sz="2000" dirty="0" smtClean="0"/>
          </a:p>
          <a:p>
            <a:pPr eaLnBrk="1" hangingPunct="1">
              <a:lnSpc>
                <a:spcPct val="100000"/>
              </a:lnSpc>
            </a:pPr>
            <a:endParaRPr lang="en-US" altLang="ja-JP" sz="2000" dirty="0" smtClean="0">
              <a:ea typeface="ＭＳ Ｐゴシック" pitchFamily="34" charset="-128"/>
            </a:endParaRPr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5133975"/>
            <a:ext cx="20193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5295900"/>
            <a:ext cx="1716088" cy="125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425" y="5243513"/>
            <a:ext cx="1727200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728011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/>
              <a:t>Eszközök</a:t>
            </a:r>
            <a:r>
              <a:rPr lang="en-US" sz="1800" dirty="0"/>
              <a:t> </a:t>
            </a:r>
            <a:r>
              <a:rPr lang="en-US" sz="1800" dirty="0" err="1"/>
              <a:t>címzése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Kapcsoló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virtuális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interfészének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(SVI)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konfigurálása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46083" name="Rectangle 6"/>
          <p:cNvSpPr>
            <a:spLocks noGrp="1" noChangeArrowheads="1"/>
          </p:cNvSpPr>
          <p:nvPr>
            <p:ph idx="1"/>
          </p:nvPr>
        </p:nvSpPr>
        <p:spPr>
          <a:xfrm>
            <a:off x="496208" y="1727200"/>
            <a:ext cx="8183336" cy="3744685"/>
          </a:xfrm>
        </p:spPr>
        <p:txBody>
          <a:bodyPr/>
          <a:lstStyle/>
          <a:p>
            <a:r>
              <a:rPr lang="hu-HU" sz="2000" b="1" dirty="0"/>
              <a:t>IP-cím</a:t>
            </a:r>
            <a:r>
              <a:rPr lang="hu-HU" sz="2000" dirty="0"/>
              <a:t> - Az alhálózati maszkkal együtt egyedileg azonosít egy végberendezést a hálózaton</a:t>
            </a:r>
            <a:r>
              <a:rPr lang="en-US" sz="2000" dirty="0" smtClean="0">
                <a:cs typeface="Arial" charset="0"/>
              </a:rPr>
              <a:t>.</a:t>
            </a:r>
          </a:p>
          <a:p>
            <a:r>
              <a:rPr lang="hu-HU" sz="2000" b="1" dirty="0"/>
              <a:t>Alhálózati maszk</a:t>
            </a:r>
            <a:r>
              <a:rPr lang="hu-HU" sz="2000" dirty="0"/>
              <a:t> - Meghatározza, hogy egy nagyobb hálózat melyik részében található az IP-cím</a:t>
            </a:r>
            <a:r>
              <a:rPr lang="en-US" sz="2000" dirty="0" smtClean="0">
                <a:cs typeface="Arial" charset="0"/>
              </a:rPr>
              <a:t>.</a:t>
            </a:r>
          </a:p>
          <a:p>
            <a:r>
              <a:rPr lang="hu-HU" sz="2000" b="1" dirty="0" err="1"/>
              <a:t>interface</a:t>
            </a:r>
            <a:r>
              <a:rPr lang="hu-HU" sz="2000" b="1" dirty="0"/>
              <a:t> </a:t>
            </a:r>
            <a:r>
              <a:rPr lang="hu-HU" sz="2000" b="1" dirty="0" err="1"/>
              <a:t>vlan</a:t>
            </a:r>
            <a:r>
              <a:rPr lang="hu-HU" sz="2000" b="1" dirty="0"/>
              <a:t> 1</a:t>
            </a:r>
            <a:r>
              <a:rPr lang="hu-HU" sz="2000" dirty="0"/>
              <a:t> - A parancs globális konfigurációs módból interfész konfigurációs módba vált</a:t>
            </a:r>
            <a:r>
              <a:rPr lang="hu-HU" sz="2000" dirty="0" smtClean="0"/>
              <a:t>.</a:t>
            </a:r>
            <a:r>
              <a:rPr lang="en-US" sz="2000" dirty="0" smtClean="0"/>
              <a:t> </a:t>
            </a:r>
          </a:p>
          <a:p>
            <a:r>
              <a:rPr lang="hu-HU" sz="2000" b="1" dirty="0" err="1"/>
              <a:t>ip</a:t>
            </a:r>
            <a:r>
              <a:rPr lang="hu-HU" sz="2000" b="1" dirty="0"/>
              <a:t> </a:t>
            </a:r>
            <a:r>
              <a:rPr lang="hu-HU" sz="2000" b="1" dirty="0" err="1"/>
              <a:t>address</a:t>
            </a:r>
            <a:r>
              <a:rPr lang="hu-HU" sz="2000" b="1" dirty="0"/>
              <a:t> 192.168.10.2 255.255.255.0</a:t>
            </a:r>
            <a:r>
              <a:rPr lang="hu-HU" sz="2000" dirty="0"/>
              <a:t> - Beállítja a kapcsoló IP-címét és alhálózati maszkját</a:t>
            </a:r>
            <a:r>
              <a:rPr lang="en-US" sz="2000" dirty="0" smtClean="0"/>
              <a:t>. </a:t>
            </a:r>
          </a:p>
          <a:p>
            <a:r>
              <a:rPr lang="hu-HU" sz="2000" b="1" dirty="0"/>
              <a:t>no </a:t>
            </a:r>
            <a:r>
              <a:rPr lang="hu-HU" sz="2000" b="1" dirty="0" err="1"/>
              <a:t>shutdown</a:t>
            </a:r>
            <a:r>
              <a:rPr lang="hu-HU" sz="2000" dirty="0"/>
              <a:t> - Engedélyezi az interfész aktív állapotba kerülését</a:t>
            </a:r>
            <a:r>
              <a:rPr lang="en-US" sz="2000" dirty="0" smtClean="0"/>
              <a:t>.</a:t>
            </a:r>
          </a:p>
          <a:p>
            <a:r>
              <a:rPr lang="hu-HU" sz="2000" dirty="0"/>
              <a:t>A kapcsoló legalább egy fizikai </a:t>
            </a:r>
            <a:r>
              <a:rPr lang="hu-HU" sz="2000" dirty="0" err="1"/>
              <a:t>portjának</a:t>
            </a:r>
            <a:r>
              <a:rPr lang="hu-HU" sz="2000" dirty="0"/>
              <a:t> és a </a:t>
            </a:r>
            <a:r>
              <a:rPr lang="hu-HU" sz="2000" dirty="0" err="1"/>
              <a:t>VTY-vonalaknak</a:t>
            </a:r>
            <a:r>
              <a:rPr lang="hu-HU" sz="2000" dirty="0"/>
              <a:t> konfigurálva kell lenniük a sikeres távoli felügyeleti kapcsolat létesítéséhez</a:t>
            </a:r>
            <a:r>
              <a:rPr lang="en-US" sz="2000" dirty="0" smtClean="0"/>
              <a:t>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709350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/>
              <a:t>Eszközök</a:t>
            </a:r>
            <a:r>
              <a:rPr lang="en-US" sz="1800" dirty="0"/>
              <a:t> </a:t>
            </a:r>
            <a:r>
              <a:rPr lang="en-US" sz="1800" dirty="0" err="1"/>
              <a:t>címzése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Kapcsoló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virtuális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interfészének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(SVI)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konfigurálása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2"/>
          <a:stretch/>
        </p:blipFill>
        <p:spPr bwMode="auto">
          <a:xfrm>
            <a:off x="261252" y="1698169"/>
            <a:ext cx="8633526" cy="3251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61940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99269" y="827770"/>
            <a:ext cx="8145462" cy="722313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/>
              <a:t>Eszközök</a:t>
            </a:r>
            <a:r>
              <a:rPr lang="en-US" sz="1800" dirty="0" smtClean="0"/>
              <a:t> </a:t>
            </a:r>
            <a:r>
              <a:rPr lang="en-US" sz="1800" dirty="0" err="1" smtClean="0"/>
              <a:t>címzése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Manuális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IP-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cím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konfiguráció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végberendezéseken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971" y="1641701"/>
            <a:ext cx="5638800" cy="4619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0999" y="837228"/>
            <a:ext cx="8145463" cy="722313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/>
              <a:t>Eszközök</a:t>
            </a:r>
            <a:r>
              <a:rPr lang="en-US" sz="1800" dirty="0" smtClean="0"/>
              <a:t> </a:t>
            </a:r>
            <a:r>
              <a:rPr lang="en-US" sz="1800" dirty="0" err="1" smtClean="0"/>
              <a:t>címzése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Automatikus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IP-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cím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konfiguráció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végberendezéseken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584" y="1637392"/>
            <a:ext cx="5891734" cy="47488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363538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/>
              <a:t>Eszközök</a:t>
            </a:r>
            <a:r>
              <a:rPr lang="en-US" sz="1800" dirty="0" smtClean="0"/>
              <a:t> </a:t>
            </a:r>
            <a:r>
              <a:rPr lang="en-US" sz="1800" dirty="0" err="1" smtClean="0"/>
              <a:t>címzése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IP-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cím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ütközések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49155" name="Picture 5" descr="C:\AriesWork\Content\NetworkBasics\Chapter 2\Graphics\232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23" y="2525713"/>
            <a:ext cx="7507287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66953" y="655668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/>
              <a:t>Kapcsolatok</a:t>
            </a:r>
            <a:r>
              <a:rPr lang="en-US" sz="1800" dirty="0" smtClean="0"/>
              <a:t> </a:t>
            </a:r>
            <a:r>
              <a:rPr lang="en-US" sz="1800" dirty="0" err="1" smtClean="0"/>
              <a:t>ellenőrzése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2800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visszacsatolási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cím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tesztelése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végberendezéseken</a:t>
            </a:r>
            <a:endParaRPr lang="en-US" sz="28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5017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1606550"/>
            <a:ext cx="6040437" cy="50403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22728" y="533400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/>
              <a:t>Kapcsolatok</a:t>
            </a:r>
            <a:r>
              <a:rPr lang="en-US" sz="1800" dirty="0" smtClean="0"/>
              <a:t> </a:t>
            </a:r>
            <a:r>
              <a:rPr lang="en-US" sz="1800" dirty="0" err="1" smtClean="0"/>
              <a:t>ellenőrzése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Az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interfész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tesztelése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429" y="1592942"/>
            <a:ext cx="6369729" cy="4853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38377" y="722018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err="1" smtClean="0"/>
              <a:t>Kapcsolatok</a:t>
            </a:r>
            <a:r>
              <a:rPr lang="en-US" sz="1800" dirty="0" smtClean="0"/>
              <a:t> </a:t>
            </a:r>
            <a:r>
              <a:rPr lang="en-US" sz="1800" dirty="0" err="1" smtClean="0"/>
              <a:t>ellenőrzése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A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végponttól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végpontig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tartó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kapcsolat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tesztelése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"/>
          <a:stretch/>
        </p:blipFill>
        <p:spPr bwMode="auto">
          <a:xfrm>
            <a:off x="1480458" y="1589295"/>
            <a:ext cx="6429827" cy="466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smtClean="0"/>
              <a:t>10. óra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21303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3" y="493940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 err="1" smtClean="0"/>
              <a:t>Hálózati</a:t>
            </a:r>
            <a:r>
              <a:rPr lang="en-US" sz="2000" dirty="0" smtClean="0"/>
              <a:t> </a:t>
            </a:r>
            <a:r>
              <a:rPr lang="en-US" sz="2000" dirty="0" err="1" smtClean="0"/>
              <a:t>operációs</a:t>
            </a:r>
            <a:r>
              <a:rPr lang="en-US" sz="2000" dirty="0" smtClean="0"/>
              <a:t> </a:t>
            </a:r>
            <a:r>
              <a:rPr lang="en-US" sz="2000" dirty="0" err="1" smtClean="0"/>
              <a:t>rendszer</a:t>
            </a:r>
            <a:r>
              <a:rPr lang="en-US" sz="2000" dirty="0" smtClean="0"/>
              <a:t> </a:t>
            </a:r>
            <a:r>
              <a:rPr lang="en-US" sz="2000" dirty="0" err="1" smtClean="0"/>
              <a:t>konfigurálása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Összefoglalás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50179" name="Rectangle 6"/>
          <p:cNvSpPr>
            <a:spLocks noGrp="1" noChangeArrowheads="1"/>
          </p:cNvSpPr>
          <p:nvPr>
            <p:ph idx="1"/>
          </p:nvPr>
        </p:nvSpPr>
        <p:spPr>
          <a:xfrm>
            <a:off x="495300" y="1458913"/>
            <a:ext cx="8216900" cy="515302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Cisco </a:t>
            </a:r>
            <a:r>
              <a:rPr lang="en-US" sz="2000" dirty="0" smtClean="0"/>
              <a:t>IOS: </a:t>
            </a:r>
            <a:endParaRPr lang="en-US" dirty="0" smtClean="0"/>
          </a:p>
          <a:p>
            <a:pPr marL="404813" indent="-346075"/>
            <a:r>
              <a:rPr lang="hu-HU" sz="2000" dirty="0"/>
              <a:t>A szakember parancsok segítségével tudja konfigurálni vagy programozni az eszköz különféle hálózati funkcióit</a:t>
            </a:r>
            <a:r>
              <a:rPr lang="hu-HU" sz="2000" dirty="0" smtClean="0"/>
              <a:t>.</a:t>
            </a:r>
            <a:r>
              <a:rPr lang="en-US" sz="2000" dirty="0" smtClean="0"/>
              <a:t> </a:t>
            </a:r>
          </a:p>
          <a:p>
            <a:pPr marL="404813" indent="-346075"/>
            <a:r>
              <a:rPr lang="hu-HU" sz="2000" dirty="0"/>
              <a:t>A Cisco IOS szolgáltatásai általában a parancssorból (CLI) érhetők el, melyhez a belépés a konzol </a:t>
            </a:r>
            <a:r>
              <a:rPr lang="hu-HU" sz="2000" dirty="0" err="1"/>
              <a:t>porton</a:t>
            </a:r>
            <a:r>
              <a:rPr lang="hu-HU" sz="2000" dirty="0"/>
              <a:t>, AUX </a:t>
            </a:r>
            <a:r>
              <a:rPr lang="hu-HU" sz="2000" dirty="0" err="1"/>
              <a:t>porton</a:t>
            </a:r>
            <a:r>
              <a:rPr lang="hu-HU" sz="2000" dirty="0"/>
              <a:t>, Telnet-en vagy </a:t>
            </a:r>
            <a:r>
              <a:rPr lang="hu-HU" sz="2000" dirty="0" err="1"/>
              <a:t>SSH-n</a:t>
            </a:r>
            <a:r>
              <a:rPr lang="hu-HU" sz="2000" dirty="0"/>
              <a:t> keresztül biztosított</a:t>
            </a:r>
            <a:r>
              <a:rPr lang="en-US" sz="2000" dirty="0" smtClean="0"/>
              <a:t>. </a:t>
            </a:r>
          </a:p>
          <a:p>
            <a:pPr marL="404813" indent="-346075"/>
            <a:r>
              <a:rPr lang="hu-HU" sz="2000" dirty="0"/>
              <a:t>A parancssorhoz való kapcsolódás után a hálózati szakember hozzákezdhet a Cisco eszköz konfigurálásához. </a:t>
            </a:r>
            <a:r>
              <a:rPr lang="en-US" sz="2000" dirty="0" smtClean="0"/>
              <a:t> </a:t>
            </a:r>
            <a:endParaRPr lang="en-US" sz="2000" dirty="0"/>
          </a:p>
          <a:p>
            <a:pPr marL="404813" indent="-346075"/>
            <a:r>
              <a:rPr lang="hu-HU" sz="2000" dirty="0"/>
              <a:t>A Cisco IOS szerkezetileg egy modális operációs rendszer, ami a hálózati szakember számára biztosítja a különféle üzemmódok közötti átjárást</a:t>
            </a:r>
            <a:r>
              <a:rPr lang="hu-HU" sz="2000" dirty="0" smtClean="0"/>
              <a:t>.</a:t>
            </a:r>
            <a:r>
              <a:rPr lang="en-US" sz="2000" dirty="0" smtClean="0"/>
              <a:t> </a:t>
            </a:r>
          </a:p>
          <a:p>
            <a:pPr marL="404813" indent="-346075"/>
            <a:r>
              <a:rPr lang="hu-HU" sz="2000" dirty="0"/>
              <a:t>A Cisco IOS kapcsolók és forgalomirányítók hasonló operációs rendszert futtatnak, melyek parancsszerkezete és parancskészlete is azonos. Mindkét eszköztípus azonos kezdeti konfigurációt igényel, mielőtt a hálózathoz csatlakoztatnánk őket.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461751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72282" y="493939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 err="1" smtClean="0"/>
              <a:t>Hálózati</a:t>
            </a:r>
            <a:r>
              <a:rPr lang="en-US" sz="2000" dirty="0" smtClean="0"/>
              <a:t> </a:t>
            </a:r>
            <a:r>
              <a:rPr lang="en-US" sz="2000" dirty="0" err="1" smtClean="0"/>
              <a:t>operációs</a:t>
            </a:r>
            <a:r>
              <a:rPr lang="en-US" sz="2000" dirty="0" smtClean="0"/>
              <a:t> </a:t>
            </a:r>
            <a:r>
              <a:rPr lang="en-US" sz="2000" dirty="0" err="1" smtClean="0"/>
              <a:t>rendszer</a:t>
            </a:r>
            <a:r>
              <a:rPr lang="en-US" sz="2000" dirty="0" smtClean="0"/>
              <a:t> </a:t>
            </a:r>
            <a:r>
              <a:rPr lang="en-US" sz="2000" dirty="0" err="1" smtClean="0"/>
              <a:t>konfigurálása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Összefoglalás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(</a:t>
            </a:r>
            <a:r>
              <a:rPr lang="hu-HU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folytatás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2387600"/>
            <a:ext cx="7797800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96434" y="435882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 err="1" smtClean="0"/>
              <a:t>Hálózati</a:t>
            </a:r>
            <a:r>
              <a:rPr lang="en-US" sz="2000" dirty="0" smtClean="0"/>
              <a:t> </a:t>
            </a:r>
            <a:r>
              <a:rPr lang="en-US" sz="2000" dirty="0" err="1" smtClean="0"/>
              <a:t>operációs</a:t>
            </a:r>
            <a:r>
              <a:rPr lang="en-US" sz="2000" dirty="0" smtClean="0"/>
              <a:t> </a:t>
            </a:r>
            <a:r>
              <a:rPr lang="en-US" sz="2000" dirty="0" err="1" smtClean="0"/>
              <a:t>rendszer</a:t>
            </a:r>
            <a:r>
              <a:rPr lang="en-US" sz="2000" dirty="0" smtClean="0"/>
              <a:t> </a:t>
            </a:r>
            <a:r>
              <a:rPr lang="en-US" sz="2000" dirty="0" err="1" smtClean="0"/>
              <a:t>konfigurálása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Összefoglalás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(</a:t>
            </a:r>
            <a:r>
              <a:rPr lang="hu-HU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folytatás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560739"/>
            <a:ext cx="7373938" cy="480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ctr"/>
          <a:lstStyle/>
          <a:p>
            <a:endParaRPr lang="en-US"/>
          </a:p>
        </p:txBody>
      </p:sp>
      <p:pic>
        <p:nvPicPr>
          <p:cNvPr id="56323" name="Picture 3" descr="CNA_largo-onwhi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5" y="2741613"/>
            <a:ext cx="6097588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87FE784E5BA16C46A1B8DCFD81161696" ma:contentTypeVersion="0" ma:contentTypeDescription="Új dokumentum létrehozása." ma:contentTypeScope="" ma:versionID="2c62891ae7958eec8050b79adf0fe28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272c3706e31d85aa278778a1025862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601150-03C8-4496-9AB8-BBCF640CD5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D2D1AF-A23C-4430-9A44-063C4C0F6D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9D5777F-0D17-4994-B354-4751E8451A70}">
  <ds:schemaRefs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20264</TotalTime>
  <Pages>28</Pages>
  <Words>1179</Words>
  <Application>Microsoft Office PowerPoint</Application>
  <PresentationFormat>Diavetítés a képernyőre (4:3 oldalarány)</PresentationFormat>
  <Paragraphs>295</Paragraphs>
  <Slides>57</Slides>
  <Notes>51</Notes>
  <HiddenSlides>0</HiddenSlides>
  <MMClips>0</MMClips>
  <ScaleCrop>false</ScaleCrop>
  <HeadingPairs>
    <vt:vector size="4" baseType="variant">
      <vt:variant>
        <vt:lpstr>Téma</vt:lpstr>
      </vt:variant>
      <vt:variant>
        <vt:i4>2</vt:i4>
      </vt:variant>
      <vt:variant>
        <vt:lpstr>Diacímek</vt:lpstr>
      </vt:variant>
      <vt:variant>
        <vt:i4>57</vt:i4>
      </vt:variant>
    </vt:vector>
  </HeadingPairs>
  <TitlesOfParts>
    <vt:vector size="59" baseType="lpstr">
      <vt:lpstr>PPT-TMPLT-WHT_C</vt:lpstr>
      <vt:lpstr>NetAcad-4F_PPT-WHT_060408</vt:lpstr>
      <vt:lpstr>6. óra</vt:lpstr>
      <vt:lpstr>2. fejezet: Hálózati operációs rendszer konfigurálása</vt:lpstr>
      <vt:lpstr>Témakörök</vt:lpstr>
      <vt:lpstr>Tartalomjegyzék</vt:lpstr>
      <vt:lpstr>2.1  IOS alapképzés</vt:lpstr>
      <vt:lpstr>Cisco IOS Operációs rendszerek</vt:lpstr>
      <vt:lpstr>Cisco IOS Operációs rendszerek (folytatás)</vt:lpstr>
      <vt:lpstr>Cisco IOS Az IOS célja</vt:lpstr>
      <vt:lpstr>Cisco IOS A Cisco IOS helye</vt:lpstr>
      <vt:lpstr>Cisco IOS Az IOS funkciói</vt:lpstr>
      <vt:lpstr>A Cisco IOS elérése Konzol elérési mód</vt:lpstr>
      <vt:lpstr>A Cisco IOS elérése Konzol elérési mód</vt:lpstr>
      <vt:lpstr>A Cisco IOS elérése Telnet, SSH és AUX hozzáférési módok</vt:lpstr>
      <vt:lpstr>A Cisco IOS elérése Terminál emulációs programok</vt:lpstr>
      <vt:lpstr>Az IOS használata Cisco IOS működési módok</vt:lpstr>
      <vt:lpstr>Az IOS használata Elsődleges módok</vt:lpstr>
      <vt:lpstr>Az IOS használata Globális konfigurációs mód és almódok</vt:lpstr>
      <vt:lpstr>Az IOS használata Átjárás az IOS-módok között</vt:lpstr>
      <vt:lpstr>Az IOS használata Átjárás az IOS-módok között (folytatás)</vt:lpstr>
      <vt:lpstr>7. óra</vt:lpstr>
      <vt:lpstr>A parancsok felépítése Az IOS-parancsok felépítése</vt:lpstr>
      <vt:lpstr>A parancsok felépítése A Cisco IOS Command Reference</vt:lpstr>
      <vt:lpstr>A parancsok felépítése Környezetérzékeny súgó</vt:lpstr>
      <vt:lpstr>A parancsok felépítése Parancs szintaxis ellenőrzés</vt:lpstr>
      <vt:lpstr>A parancsok felépítése Gyorsbillentyűk és billentyűkombinációk</vt:lpstr>
      <vt:lpstr>A parancsok felépítése Az IOS állapotvizsgáló parancsai</vt:lpstr>
      <vt:lpstr>A parancsok felépítése A show version parancs</vt:lpstr>
      <vt:lpstr>8. óra</vt:lpstr>
      <vt:lpstr>2.2  Alapok</vt:lpstr>
      <vt:lpstr>Állomásnevek Miért a kapcsoló?</vt:lpstr>
      <vt:lpstr>Állomásnevek Eszköznevek</vt:lpstr>
      <vt:lpstr>Állomásnevek Állomásnevek</vt:lpstr>
      <vt:lpstr>Állomásnevek Állomásnevek konfigurálása</vt:lpstr>
      <vt:lpstr>Az eszközkonfigurációhoz való hozzáférés korlátozása A hozzáférés biztonságossá tétele</vt:lpstr>
      <vt:lpstr>Az eszközkonfigurációhoz való hozzáférés korlátozása A privilegizált EXEC mód védelme</vt:lpstr>
      <vt:lpstr>Az eszközkonfigurációhoz való hozzáférés korlátozása A felhasználói EXEC mód védelme</vt:lpstr>
      <vt:lpstr>Az eszközkonfigurációhoz való hozzáférés korlátozása Jelszó titkosítás</vt:lpstr>
      <vt:lpstr>Az eszközkonfigurációhoz való hozzáférés korlátozása Banner üzenetek</vt:lpstr>
      <vt:lpstr>Konfiguráció mentése Konfigurációs fájlok</vt:lpstr>
      <vt:lpstr>Konfiguráció mentése Szövegek rögzítése</vt:lpstr>
      <vt:lpstr>9. óra</vt:lpstr>
      <vt:lpstr>2.3 Címzési sémák</vt:lpstr>
      <vt:lpstr>Portok és címek Eszközök IP-címzése</vt:lpstr>
      <vt:lpstr>Portok és címek Interfészek és portok</vt:lpstr>
      <vt:lpstr>Eszközök címzése Kapcsoló virtuális interfészének (SVI) konfigurálása</vt:lpstr>
      <vt:lpstr>Eszközök címzése Kapcsoló virtuális interfészének (SVI) konfigurálása</vt:lpstr>
      <vt:lpstr>Eszközök címzése Manuális IP-cím konfiguráció végberendezéseken</vt:lpstr>
      <vt:lpstr>Eszközök címzése Automatikus IP-cím konfiguráció végberendezéseken</vt:lpstr>
      <vt:lpstr>Eszközök címzése IP-cím ütközések</vt:lpstr>
      <vt:lpstr>Kapcsolatok ellenőrzése A visszacsatolási cím tesztelése végberendezéseken</vt:lpstr>
      <vt:lpstr>Kapcsolatok ellenőrzése Az interfész tesztelése</vt:lpstr>
      <vt:lpstr>Kapcsolatok ellenőrzése A végponttól végpontig tartó kapcsolat tesztelése</vt:lpstr>
      <vt:lpstr>10. óra</vt:lpstr>
      <vt:lpstr>Hálózati operációs rendszer konfigurálása Összefoglalás</vt:lpstr>
      <vt:lpstr>Hálózati operációs rendszer konfigurálása Összefoglalás (folytatás)</vt:lpstr>
      <vt:lpstr>Hálózati operációs rendszer konfigurálása Összefoglalás (folytatás)</vt:lpstr>
      <vt:lpstr>PowerPoint bemutató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ML</cp:lastModifiedBy>
  <cp:revision>809</cp:revision>
  <cp:lastPrinted>1999-01-27T00:54:54Z</cp:lastPrinted>
  <dcterms:created xsi:type="dcterms:W3CDTF">2006-10-23T15:07:30Z</dcterms:created>
  <dcterms:modified xsi:type="dcterms:W3CDTF">2014-10-17T09:07:47Z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0x01010087FE784E5BA16C46A1B8DCFD81161696</vt:lpwstr>
  </property>
</Properties>
</file>